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5" name="Picture 14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8595360" y="914400"/>
            <a:ext cx="2834640" cy="2834640"/>
          </a:xfrm>
          <a:prstGeom prst="ellipse">
            <a:avLst/>
          </a:prstGeom>
          <a:solidFill>
            <a:srgbClr val="E0EEFA"/>
          </a:solidFill>
          <a:ln>
            <a:solidFill>
              <a:srgbClr val="E0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89720" y="1508760"/>
            <a:ext cx="1645920" cy="1645920"/>
          </a:xfrm>
          <a:prstGeom prst="ellipse">
            <a:avLst/>
          </a:prstGeom>
          <a:solidFill>
            <a:srgbClr val="E1F5F1"/>
          </a:solidFill>
          <a:ln>
            <a:solidFill>
              <a:srgbClr val="E1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 rot="10800000">
            <a:off x="9528048" y="1755648"/>
            <a:ext cx="960120" cy="1097280"/>
          </a:xfrm>
          <a:prstGeom prst="homePlate">
            <a:avLst/>
          </a:prstGeom>
          <a:solidFill>
            <a:srgbClr val="22948B"/>
          </a:solidFill>
          <a:ln>
            <a:solidFill>
              <a:srgbClr val="229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2011680"/>
            <a:ext cx="7315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115568"/>
            <a:ext cx="1965960" cy="310896"/>
          </a:xfrm>
          <a:prstGeom prst="roundRect">
            <a:avLst/>
          </a:prstGeom>
          <a:solidFill>
            <a:srgbClr val="E1F5F1"/>
          </a:solidFill>
          <a:ln>
            <a:solidFill>
              <a:srgbClr val="E1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56716"/>
            <a:ext cx="1911095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22948B"/>
                </a:solidFill>
                <a:latin typeface="Aptos"/>
              </a:defRPr>
            </a:pPr>
            <a:r>
              <a:t>AI • PRIVACY • 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64208"/>
            <a:ext cx="685800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4500" b="1">
                <a:solidFill>
                  <a:srgbClr val="1F3752"/>
                </a:solidFill>
                <a:latin typeface="Aptos"/>
              </a:defRPr>
            </a:pPr>
            <a:r>
              <a:t>KAVACH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578608"/>
            <a:ext cx="67665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200" b="1">
                <a:solidFill>
                  <a:srgbClr val="346EB0"/>
                </a:solidFill>
                <a:latin typeface="Aptos"/>
              </a:defRPr>
            </a:pPr>
            <a:r>
              <a:t>Consent Intelligence &amp; Protection for AI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310128"/>
            <a:ext cx="658368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0">
                <a:solidFill>
                  <a:srgbClr val="2A3440"/>
                </a:solidFill>
                <a:latin typeface="Aptos"/>
              </a:defRPr>
            </a:pPr>
            <a:r>
              <a:t>A consent firewall that helps people understand policies, set personal boundaries, and control how AI agents access or share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4892040"/>
            <a:ext cx="47548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5120640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5D6C7C"/>
                </a:solidFill>
                <a:latin typeface="Aptos"/>
              </a:defRPr>
            </a:pPr>
            <a:r>
              <a:t>Project presentation  |  Consent Court 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925312"/>
            <a:ext cx="6583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22948B"/>
                </a:solidFill>
                <a:latin typeface="Aptos"/>
              </a:defRPr>
            </a:pPr>
            <a:r>
              <a:t>Informed consent. Enforced boundaries. Human control.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510528"/>
            <a:ext cx="6400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D6C7C"/>
                </a:solidFill>
                <a:latin typeface="Aptos"/>
              </a:defRPr>
            </a:pPr>
            <a:r>
              <a:t>01/07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Picture 22" descr="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21792" y="320040"/>
            <a:ext cx="10789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22948B"/>
                </a:solidFill>
                <a:latin typeface="Aptos"/>
              </a:defRPr>
            </a:pPr>
            <a:r>
              <a:t>THE CONSENT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1F3752"/>
                </a:solidFill>
                <a:latin typeface="Aptos"/>
              </a:defRPr>
            </a:pPr>
            <a:r>
              <a:t>Why KAVACH Is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685800" cy="45720"/>
          </a:xfrm>
          <a:prstGeom prst="rect">
            <a:avLst/>
          </a:prstGeom>
          <a:solidFill>
            <a:srgbClr val="22948B"/>
          </a:solidFill>
          <a:ln>
            <a:solidFill>
              <a:srgbClr val="229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510528"/>
            <a:ext cx="1600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D6C7C"/>
                </a:solidFill>
                <a:latin typeface="Aptos"/>
              </a:defRPr>
            </a:pPr>
            <a:r>
              <a:t>KAVACH  •  2/7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4592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645920"/>
            <a:ext cx="64008" cy="1600200"/>
          </a:xfrm>
          <a:prstGeom prst="rect">
            <a:avLst/>
          </a:prstGeom>
          <a:solidFill>
            <a:srgbClr val="346EB0"/>
          </a:solidFill>
          <a:ln>
            <a:solidFill>
              <a:srgbClr val="346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83080"/>
            <a:ext cx="3200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1F3752"/>
                </a:solidFill>
                <a:latin typeface="Aptos"/>
              </a:defRPr>
            </a:pPr>
            <a:r>
              <a:t>Policies are hard to 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30552"/>
            <a:ext cx="3200400" cy="10332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5D6C7C"/>
                </a:solidFill>
                <a:latin typeface="Aptos"/>
              </a:defRPr>
            </a:pPr>
            <a:r>
              <a:t>Long legal text hides how data is collected, retained, shared, or used for AI training.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64008" cy="1600200"/>
          </a:xfrm>
          <a:prstGeom prst="rect">
            <a:avLst/>
          </a:prstGeom>
          <a:solidFill>
            <a:srgbClr val="F2B74B"/>
          </a:solidFill>
          <a:ln>
            <a:solidFill>
              <a:srgbClr val="F2B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83080"/>
            <a:ext cx="3200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1F3752"/>
                </a:solidFill>
                <a:latin typeface="Aptos"/>
              </a:defRPr>
            </a:pPr>
            <a:r>
              <a:t>Consent can become outdated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30552"/>
            <a:ext cx="3200400" cy="10332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5D6C7C"/>
                </a:solidFill>
                <a:latin typeface="Aptos"/>
              </a:defRPr>
            </a:pPr>
            <a:r>
              <a:t>A policy may change after a user accepts it, introducing new recipients or purposes.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64592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73568" y="1645920"/>
            <a:ext cx="64008" cy="1600200"/>
          </a:xfrm>
          <a:prstGeom prst="rect">
            <a:avLst/>
          </a:prstGeom>
          <a:solidFill>
            <a:srgbClr val="E06960"/>
          </a:solidFill>
          <a:ln>
            <a:solidFill>
              <a:srgbClr val="E06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783080"/>
            <a:ext cx="3200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1F3752"/>
                </a:solidFill>
                <a:latin typeface="Aptos"/>
              </a:defRPr>
            </a:pPr>
            <a:r>
              <a:t>AI agents add new 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130552"/>
            <a:ext cx="3200400" cy="10332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5D6C7C"/>
                </a:solidFill>
                <a:latin typeface="Aptos"/>
              </a:defRPr>
            </a:pPr>
            <a:r>
              <a:t>Agents can encounter prompt injection, misleading pages, or conflicting instructions.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0332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22948B"/>
                </a:solidFill>
                <a:latin typeface="Aptos"/>
              </a:defRPr>
            </a:pPr>
            <a:r>
              <a:t>KAVACH’s 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3675887"/>
            <a:ext cx="88696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800" b="1">
                <a:solidFill>
                  <a:srgbClr val="1F3752"/>
                </a:solidFill>
                <a:latin typeface="Aptos"/>
              </a:defRPr>
            </a:pPr>
            <a:r>
              <a:t>Create an auditable consent firewall between an AI agent and protected data transfers.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434840"/>
            <a:ext cx="10698480" cy="1051560"/>
          </a:xfrm>
          <a:prstGeom prst="roundRect">
            <a:avLst/>
          </a:prstGeom>
          <a:solidFill>
            <a:srgbClr val="E0EEFA"/>
          </a:solidFill>
          <a:ln>
            <a:solidFill>
              <a:srgbClr val="E0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645152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346EB0"/>
                </a:solidFill>
                <a:latin typeface="Aptos"/>
              </a:defRPr>
            </a:pPr>
            <a:r>
              <a:t>Core principles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608576"/>
            <a:ext cx="8503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F3752"/>
                </a:solidFill>
                <a:latin typeface="Aptos"/>
              </a:defRPr>
            </a:pPr>
            <a:r>
              <a:t>• Explicit user rules  • Evidence-backed decisions  • Least privilege  • Review when uncertain  • Preserve incident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7" name="Picture 36" descr="ag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21792" y="320040"/>
            <a:ext cx="10789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22948B"/>
                </a:solidFill>
                <a:latin typeface="Aptos"/>
              </a:defRPr>
            </a:pPr>
            <a:r>
              <a:t>PERSONALIZED PRIVACY AND ONGOING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1F3752"/>
                </a:solidFill>
                <a:latin typeface="Aptos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685800" cy="45720"/>
          </a:xfrm>
          <a:prstGeom prst="rect">
            <a:avLst/>
          </a:prstGeom>
          <a:solidFill>
            <a:srgbClr val="22948B"/>
          </a:solidFill>
          <a:ln>
            <a:solidFill>
              <a:srgbClr val="229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510528"/>
            <a:ext cx="1600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D6C7C"/>
                </a:solidFill>
                <a:latin typeface="Aptos"/>
              </a:defRPr>
            </a:pPr>
            <a:r>
              <a:t>KAVACH  •  3/7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27632"/>
            <a:ext cx="34290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627632"/>
            <a:ext cx="64008" cy="1298448"/>
          </a:xfrm>
          <a:prstGeom prst="rect">
            <a:avLst/>
          </a:prstGeom>
          <a:solidFill>
            <a:srgbClr val="22948B"/>
          </a:solidFill>
          <a:ln>
            <a:solidFill>
              <a:srgbClr val="229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64792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F3752"/>
                </a:solidFill>
                <a:latin typeface="Aptos"/>
              </a:defRPr>
            </a:pPr>
            <a:r>
              <a:t>Personal Consultant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12264"/>
            <a:ext cx="3108960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D6C7C"/>
                </a:solidFill>
                <a:latin typeface="Aptos"/>
              </a:defRPr>
            </a:pPr>
            <a:r>
              <a:t>Helps users set personal boundaries and understand low-risk choices; explains trade-offs in plain language.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27632"/>
            <a:ext cx="34290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27632"/>
            <a:ext cx="64008" cy="1298448"/>
          </a:xfrm>
          <a:prstGeom prst="rect">
            <a:avLst/>
          </a:prstGeom>
          <a:solidFill>
            <a:srgbClr val="E06960"/>
          </a:solidFill>
          <a:ln>
            <a:solidFill>
              <a:srgbClr val="E06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64792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F3752"/>
                </a:solidFill>
                <a:latin typeface="Aptos"/>
              </a:defRPr>
            </a:pPr>
            <a:r>
              <a:t>Emergency Stop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12264"/>
            <a:ext cx="3108960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D6C7C"/>
                </a:solidFill>
                <a:latin typeface="Aptos"/>
              </a:defRPr>
            </a:pPr>
            <a:r>
              <a:t>Freezes protected gateway actions and revokes permissions when warranted; preserves evidence for investigation.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627632"/>
            <a:ext cx="34290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73568" y="1627632"/>
            <a:ext cx="64008" cy="1298448"/>
          </a:xfrm>
          <a:prstGeom prst="rect">
            <a:avLst/>
          </a:prstGeom>
          <a:solidFill>
            <a:srgbClr val="346EB0"/>
          </a:solidFill>
          <a:ln>
            <a:solidFill>
              <a:srgbClr val="346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764792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F3752"/>
                </a:solidFill>
                <a:latin typeface="Aptos"/>
              </a:defRPr>
            </a:pPr>
            <a:r>
              <a:t>Independent Outside Judge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112264"/>
            <a:ext cx="3108960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D6C7C"/>
                </a:solidFill>
                <a:latin typeface="Aptos"/>
              </a:defRPr>
            </a:pPr>
            <a:r>
              <a:t>An independent auditor checks the model’s findings, evidence, and possible bias.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154680"/>
            <a:ext cx="34290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154680"/>
            <a:ext cx="64008" cy="1298448"/>
          </a:xfrm>
          <a:prstGeom prst="rect">
            <a:avLst/>
          </a:prstGeom>
          <a:solidFill>
            <a:srgbClr val="F2B74B"/>
          </a:solidFill>
          <a:ln>
            <a:solidFill>
              <a:srgbClr val="F2B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91840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F3752"/>
                </a:solidFill>
                <a:latin typeface="Aptos"/>
              </a:defRPr>
            </a:pPr>
            <a:r>
              <a:t>Token Issuing Gateway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639312"/>
            <a:ext cx="3108960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D6C7C"/>
                </a:solidFill>
                <a:latin typeface="Aptos"/>
              </a:defRPr>
            </a:pPr>
            <a:r>
              <a:t>Issues short-lived, scoped tokens; checks validity, destination, purpose, policy version and limits before allowing transfer.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154680"/>
            <a:ext cx="34290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154680"/>
            <a:ext cx="64008" cy="1298448"/>
          </a:xfrm>
          <a:prstGeom prst="rect">
            <a:avLst/>
          </a:prstGeom>
          <a:solidFill>
            <a:srgbClr val="22948B"/>
          </a:solidFill>
          <a:ln>
            <a:solidFill>
              <a:srgbClr val="229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291840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F3752"/>
                </a:solidFill>
                <a:latin typeface="Aptos"/>
              </a:defRPr>
            </a:pPr>
            <a:r>
              <a:t>Explanation Chatbot + Graphs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639312"/>
            <a:ext cx="3108960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D6C7C"/>
                </a:solidFill>
                <a:latin typeface="Aptos"/>
              </a:defRPr>
            </a:pPr>
            <a:r>
              <a:t>Explains decisions and displays data-flow lineage, risk signals, and changes in an understandable format.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3154680"/>
            <a:ext cx="34290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73568" y="3154680"/>
            <a:ext cx="64008" cy="1298448"/>
          </a:xfrm>
          <a:prstGeom prst="rect">
            <a:avLst/>
          </a:prstGeom>
          <a:solidFill>
            <a:srgbClr val="346EB0"/>
          </a:solidFill>
          <a:ln>
            <a:solidFill>
              <a:srgbClr val="346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6448" y="3291840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F3752"/>
                </a:solidFill>
                <a:latin typeface="Aptos"/>
              </a:defRPr>
            </a:pPr>
            <a:r>
              <a:t>Synthetic Red-Team 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3639312"/>
            <a:ext cx="3108960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D6C7C"/>
                </a:solidFill>
                <a:latin typeface="Aptos"/>
              </a:defRPr>
            </a:pPr>
            <a:r>
              <a:t>Tests fake scenarios—prompt injection, conflicting findings, stale tokens and policy changes—without exposing real data.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4681728"/>
            <a:ext cx="34290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" y="4681728"/>
            <a:ext cx="64008" cy="1298448"/>
          </a:xfrm>
          <a:prstGeom prst="rect">
            <a:avLst/>
          </a:prstGeom>
          <a:solidFill>
            <a:srgbClr val="E06960"/>
          </a:solidFill>
          <a:ln>
            <a:solidFill>
              <a:srgbClr val="E06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818888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F3752"/>
                </a:solidFill>
                <a:latin typeface="Aptos"/>
              </a:defRPr>
            </a:pPr>
            <a:r>
              <a:t>Continuous Data-Tracking / Ad Blocking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5166360"/>
            <a:ext cx="3108960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D6C7C"/>
                </a:solidFill>
                <a:latin typeface="Aptos"/>
              </a:defRPr>
            </a:pPr>
            <a:r>
              <a:t>Tracks supported data flows and highlights unexpected tracking or advertising-related data sharing where detectable.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681728"/>
            <a:ext cx="7059168" cy="914400"/>
          </a:xfrm>
          <a:prstGeom prst="roundRect">
            <a:avLst/>
          </a:prstGeom>
          <a:solidFill>
            <a:srgbClr val="E1F5F1"/>
          </a:solidFill>
          <a:ln>
            <a:solidFill>
              <a:srgbClr val="E1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53712" y="4855464"/>
            <a:ext cx="1600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1">
                <a:solidFill>
                  <a:srgbClr val="22948B"/>
                </a:solidFill>
                <a:latin typeface="Aptos"/>
              </a:defRPr>
            </a:pPr>
            <a:r>
              <a:t>Important boundary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800600"/>
            <a:ext cx="498348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1">
                <a:solidFill>
                  <a:srgbClr val="1F3752"/>
                </a:solidFill>
                <a:latin typeface="Aptos"/>
              </a:defRPr>
            </a:pPr>
            <a:r>
              <a:t>KAVACH can only observe instrumented flows; it cannot guarantee detection of all tracking or retrieve data already stolen by an attacker.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6" name="Picture 25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21792" y="320040"/>
            <a:ext cx="10789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22948B"/>
                </a:solidFill>
                <a:latin typeface="Aptos"/>
              </a:defRPr>
            </a:pPr>
            <a:r>
              <a:t>SECURE IDENTITY • EXPLICIT APPROVAL • USER-DEFINED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1F3752"/>
                </a:solidFill>
                <a:latin typeface="Aptos"/>
              </a:defRPr>
            </a:pPr>
            <a:r>
              <a:t>Authentication &amp; Personal Consent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685800" cy="45720"/>
          </a:xfrm>
          <a:prstGeom prst="rect">
            <a:avLst/>
          </a:prstGeom>
          <a:solidFill>
            <a:srgbClr val="22948B"/>
          </a:solidFill>
          <a:ln>
            <a:solidFill>
              <a:srgbClr val="229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510528"/>
            <a:ext cx="1600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D6C7C"/>
                </a:solidFill>
                <a:latin typeface="Aptos"/>
              </a:defRPr>
            </a:pPr>
            <a:r>
              <a:t>KAVACH  •  4/7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4008" cy="1645920"/>
          </a:xfrm>
          <a:prstGeom prst="rect">
            <a:avLst/>
          </a:prstGeom>
          <a:solidFill>
            <a:srgbClr val="346EB0"/>
          </a:solidFill>
          <a:ln>
            <a:solidFill>
              <a:srgbClr val="346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1F3752"/>
                </a:solidFill>
                <a:latin typeface="Aptos"/>
              </a:defRPr>
            </a:pPr>
            <a:r>
              <a:t>1. Authenticate the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310896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5D6C7C"/>
                </a:solidFill>
                <a:latin typeface="Aptos"/>
              </a:defRPr>
            </a:pPr>
            <a:r>
              <a:t>• Verify identity before sensitive actions</a:t>
            </a:r>
            <a:br/>
            <a:r>
              <a:t>• Use passkeys / WebAuthn or secure step-up authentication</a:t>
            </a:r>
            <a:br/>
            <a:r>
              <a:t>• Voice alone is not enough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64008" cy="1645920"/>
          </a:xfrm>
          <a:prstGeom prst="rect">
            <a:avLst/>
          </a:prstGeom>
          <a:solidFill>
            <a:srgbClr val="22948B"/>
          </a:solidFill>
          <a:ln>
            <a:solidFill>
              <a:srgbClr val="229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1F3752"/>
                </a:solidFill>
                <a:latin typeface="Aptos"/>
              </a:defRPr>
            </a:pPr>
            <a:r>
              <a:t>2. Set personal boundaries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30552"/>
            <a:ext cx="310896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5D6C7C"/>
                </a:solidFill>
                <a:latin typeface="Aptos"/>
              </a:defRPr>
            </a:pPr>
            <a:r>
              <a:t>• ALLOW: specific data, purpose and recipient</a:t>
            </a:r>
            <a:br/>
            <a:r>
              <a:t>• DENY: explicit prohibition</a:t>
            </a:r>
            <a:br/>
            <a:r>
              <a:t>• ASK / REVIEW: unclear or sensitive requests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1645920"/>
          </a:xfrm>
          <a:prstGeom prst="rect">
            <a:avLst/>
          </a:prstGeom>
          <a:solidFill>
            <a:srgbClr val="F2B74B"/>
          </a:solidFill>
          <a:ln>
            <a:solidFill>
              <a:srgbClr val="F2B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83080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1F3752"/>
                </a:solidFill>
                <a:latin typeface="Aptos"/>
              </a:defRPr>
            </a:pPr>
            <a:r>
              <a:t>3. Authorize each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30552"/>
            <a:ext cx="310896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5D6C7C"/>
                </a:solidFill>
                <a:latin typeface="Aptos"/>
              </a:defRPr>
            </a:pPr>
            <a:r>
              <a:t>• Check current policy and consent version</a:t>
            </a:r>
            <a:br/>
            <a:r>
              <a:t>• Confirm destination, purpose and data scope</a:t>
            </a:r>
            <a:br/>
            <a:r>
              <a:t>• Require explicit confirmation for real provider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22191"/>
            <a:ext cx="2011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1F3752"/>
                </a:solidFill>
                <a:latin typeface="Aptos"/>
              </a:defRPr>
            </a:pPr>
            <a:r>
              <a:t>Decision precedence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315968"/>
            <a:ext cx="105613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553712"/>
            <a:ext cx="1325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E06960"/>
                </a:solidFill>
                <a:latin typeface="Aptos"/>
              </a:defRPr>
            </a:pPr>
            <a:r>
              <a:t>USER DENY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544568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700" b="1">
                <a:solidFill>
                  <a:srgbClr val="5D6C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553712"/>
            <a:ext cx="2834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346EB0"/>
                </a:solidFill>
                <a:latin typeface="Aptos"/>
              </a:defRPr>
            </a:pPr>
            <a:r>
              <a:t>REVIEW / BLOCK if uncertain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544568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700" b="1">
                <a:solidFill>
                  <a:srgbClr val="5D6C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553712"/>
            <a:ext cx="2240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22948B"/>
                </a:solidFill>
                <a:latin typeface="Aptos"/>
              </a:defRPr>
            </a:pPr>
            <a:r>
              <a:t>Model recommendation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86400"/>
            <a:ext cx="102412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5D6C7C"/>
                </a:solidFill>
                <a:latin typeface="Aptos"/>
              </a:defRPr>
            </a:pPr>
            <a:r>
              <a:t>Only the trusted server-side Guardian can grant or revoke permissions; an AI model cannot override user rules.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0" name="Picture 39" descr="ag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21792" y="320040"/>
            <a:ext cx="10789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22948B"/>
                </a:solidFill>
                <a:latin typeface="Aptos"/>
              </a:defRPr>
            </a:pPr>
            <a:r>
              <a:t>EVIDENCE-LED DECISIONS WITH CONFLICT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1F3752"/>
                </a:solidFill>
                <a:latin typeface="Aptos"/>
              </a:defRPr>
            </a:pPr>
            <a:r>
              <a:t>Multi-Agent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685800" cy="45720"/>
          </a:xfrm>
          <a:prstGeom prst="rect">
            <a:avLst/>
          </a:prstGeom>
          <a:solidFill>
            <a:srgbClr val="22948B"/>
          </a:solidFill>
          <a:ln>
            <a:solidFill>
              <a:srgbClr val="229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510528"/>
            <a:ext cx="1600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D6C7C"/>
                </a:solidFill>
                <a:latin typeface="Aptos"/>
              </a:defRPr>
            </a:pPr>
            <a:r>
              <a:t>KAVACH  •  5/7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3756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64008" cy="1207008"/>
          </a:xfrm>
          <a:prstGeom prst="rect">
            <a:avLst/>
          </a:prstGeom>
          <a:solidFill>
            <a:srgbClr val="22948B"/>
          </a:solidFill>
          <a:ln>
            <a:solidFill>
              <a:srgbClr val="229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17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1F3752"/>
                </a:solidFill>
                <a:latin typeface="Aptos"/>
              </a:defRPr>
            </a:pPr>
            <a:r>
              <a:t>Sentinel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30175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D6C7C"/>
                </a:solidFill>
                <a:latin typeface="Aptos"/>
              </a:defRPr>
            </a:pPr>
            <a:r>
              <a:t>Sanitizes policy text and flags hidden instructions.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33756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64008" cy="1207008"/>
          </a:xfrm>
          <a:prstGeom prst="rect">
            <a:avLst/>
          </a:prstGeom>
          <a:solidFill>
            <a:srgbClr val="E06960"/>
          </a:solidFill>
          <a:ln>
            <a:solidFill>
              <a:srgbClr val="E06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37360"/>
            <a:ext cx="3017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1F3752"/>
                </a:solidFill>
                <a:latin typeface="Aptos"/>
              </a:defRPr>
            </a:pPr>
            <a:r>
              <a:t>Prosecutor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84832"/>
            <a:ext cx="30175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D6C7C"/>
                </a:solidFill>
                <a:latin typeface="Aptos"/>
              </a:defRPr>
            </a:pPr>
            <a:r>
              <a:t>Raises evidence-backed risk concerns.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33756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64008" cy="1207008"/>
          </a:xfrm>
          <a:prstGeom prst="rect">
            <a:avLst/>
          </a:prstGeom>
          <a:solidFill>
            <a:srgbClr val="346EB0"/>
          </a:solidFill>
          <a:ln>
            <a:solidFill>
              <a:srgbClr val="346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37360"/>
            <a:ext cx="3017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1F3752"/>
                </a:solidFill>
                <a:latin typeface="Aptos"/>
              </a:defRPr>
            </a:pPr>
            <a:r>
              <a:t>Defense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84832"/>
            <a:ext cx="30175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D6C7C"/>
                </a:solidFill>
                <a:latin typeface="Aptos"/>
              </a:defRPr>
            </a:pPr>
            <a:r>
              <a:t>Checks justifications and potential benefits.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063240"/>
            <a:ext cx="333756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063240"/>
            <a:ext cx="64008" cy="1207008"/>
          </a:xfrm>
          <a:prstGeom prst="rect">
            <a:avLst/>
          </a:prstGeom>
          <a:solidFill>
            <a:srgbClr val="F2B74B"/>
          </a:solidFill>
          <a:ln>
            <a:solidFill>
              <a:srgbClr val="F2B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200400"/>
            <a:ext cx="3017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1F3752"/>
                </a:solidFill>
                <a:latin typeface="Aptos"/>
              </a:defRPr>
            </a:pPr>
            <a:r>
              <a:t>Evidence Clerk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47872"/>
            <a:ext cx="30175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D6C7C"/>
                </a:solidFill>
                <a:latin typeface="Aptos"/>
              </a:defRPr>
            </a:pPr>
            <a:r>
              <a:t>Verifies exact text spans and citations.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063240"/>
            <a:ext cx="333756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063240"/>
            <a:ext cx="64008" cy="1207008"/>
          </a:xfrm>
          <a:prstGeom prst="rect">
            <a:avLst/>
          </a:prstGeom>
          <a:solidFill>
            <a:srgbClr val="346EB0"/>
          </a:solidFill>
          <a:ln>
            <a:solidFill>
              <a:srgbClr val="346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200400"/>
            <a:ext cx="3017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1F3752"/>
                </a:solidFill>
                <a:latin typeface="Aptos"/>
              </a:defRPr>
            </a:pPr>
            <a:r>
              <a:t>Watchman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547872"/>
            <a:ext cx="30175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D6C7C"/>
                </a:solidFill>
                <a:latin typeface="Aptos"/>
              </a:defRPr>
            </a:pPr>
            <a:r>
              <a:t>Detects semantic changes across policy versions.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0320" y="4526280"/>
            <a:ext cx="333756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0" y="4526280"/>
            <a:ext cx="64008" cy="1207008"/>
          </a:xfrm>
          <a:prstGeom prst="rect">
            <a:avLst/>
          </a:prstGeom>
          <a:solidFill>
            <a:srgbClr val="E06960"/>
          </a:solidFill>
          <a:ln>
            <a:solidFill>
              <a:srgbClr val="E06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4663440"/>
            <a:ext cx="3017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1F3752"/>
                </a:solidFill>
                <a:latin typeface="Aptos"/>
              </a:defRPr>
            </a:pPr>
            <a:r>
              <a:t>Independent Auditor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010912"/>
            <a:ext cx="30175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D6C7C"/>
                </a:solidFill>
                <a:latin typeface="Aptos"/>
              </a:defRPr>
            </a:pPr>
            <a:r>
              <a:t>Blindly checks evidence, agreement, disagreement and bias.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526280"/>
            <a:ext cx="333756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526280"/>
            <a:ext cx="64008" cy="1207008"/>
          </a:xfrm>
          <a:prstGeom prst="rect">
            <a:avLst/>
          </a:prstGeom>
          <a:solidFill>
            <a:srgbClr val="F2B74B"/>
          </a:solidFill>
          <a:ln>
            <a:solidFill>
              <a:srgbClr val="F2B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663440"/>
            <a:ext cx="3017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1F3752"/>
                </a:solidFill>
                <a:latin typeface="Aptos"/>
              </a:defRPr>
            </a:pPr>
            <a:r>
              <a:t>Guardian Gateway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010912"/>
            <a:ext cx="30175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D6C7C"/>
                </a:solidFill>
                <a:latin typeface="Aptos"/>
              </a:defRPr>
            </a:pPr>
            <a:r>
              <a:t>Enforces deterministic rules and scoped capabilities.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989320"/>
            <a:ext cx="10561320" cy="384048"/>
          </a:xfrm>
          <a:prstGeom prst="roundRect">
            <a:avLst/>
          </a:prstGeom>
          <a:solidFill>
            <a:srgbClr val="E0EEFA"/>
          </a:solidFill>
          <a:ln>
            <a:solidFill>
              <a:srgbClr val="E0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6071616"/>
            <a:ext cx="10149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1F3752"/>
                </a:solidFill>
                <a:latin typeface="Aptos"/>
              </a:defRPr>
            </a:pPr>
            <a:r>
              <a:t>Conflict rule: contradictory high-impact findings or missing evidence → REVIEW/BLOCK, never silent ALLOW.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2" name="Picture 31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21792" y="320040"/>
            <a:ext cx="10789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22948B"/>
                </a:solidFill>
                <a:latin typeface="Aptos"/>
              </a:defRPr>
            </a:pPr>
            <a:r>
              <a:t>AFTER CONSENT: KEEP WATCHING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1F3752"/>
                </a:solidFill>
                <a:latin typeface="Aptos"/>
              </a:defRPr>
            </a:pPr>
            <a:r>
              <a:t>Monitoring, Data Tracking &amp; Emergency Stop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685800" cy="45720"/>
          </a:xfrm>
          <a:prstGeom prst="rect">
            <a:avLst/>
          </a:prstGeom>
          <a:solidFill>
            <a:srgbClr val="22948B"/>
          </a:solidFill>
          <a:ln>
            <a:solidFill>
              <a:srgbClr val="229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510528"/>
            <a:ext cx="1600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D6C7C"/>
                </a:solidFill>
                <a:latin typeface="Aptos"/>
              </a:defRPr>
            </a:pPr>
            <a:r>
              <a:t>KAVACH  •  6/7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4008" cy="1828800"/>
          </a:xfrm>
          <a:prstGeom prst="rect">
            <a:avLst/>
          </a:prstGeom>
          <a:solidFill>
            <a:srgbClr val="346EB0"/>
          </a:solidFill>
          <a:ln>
            <a:solidFill>
              <a:srgbClr val="346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1F3752"/>
                </a:solidFill>
                <a:latin typeface="Aptos"/>
              </a:defRPr>
            </a:pPr>
            <a:r>
              <a:t>Semantic Policy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3108960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5D6C7C"/>
                </a:solidFill>
                <a:latin typeface="Aptos"/>
              </a:defRPr>
            </a:pPr>
            <a:r>
              <a:t>• Compare new and previous versions</a:t>
            </a:r>
            <a:br/>
            <a:r>
              <a:t>• Detect changed wording with the same meaning</a:t>
            </a:r>
            <a:br/>
            <a:r>
              <a:t>• Flag new recipients, longer retention or AI training</a:t>
            </a:r>
            <a:br/>
            <a:r>
              <a:t>• Fetch failure = UNKNOWN, not “no change”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64008" cy="1828800"/>
          </a:xfrm>
          <a:prstGeom prst="rect">
            <a:avLst/>
          </a:prstGeom>
          <a:solidFill>
            <a:srgbClr val="22948B"/>
          </a:solidFill>
          <a:ln>
            <a:solidFill>
              <a:srgbClr val="229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1F3752"/>
                </a:solidFill>
                <a:latin typeface="Aptos"/>
              </a:defRPr>
            </a:pPr>
            <a:r>
              <a:t>Data-Flow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30552"/>
            <a:ext cx="3108960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5D6C7C"/>
                </a:solidFill>
                <a:latin typeface="Aptos"/>
              </a:defRPr>
            </a:pPr>
            <a:r>
              <a:t>• Log source, purpose, destination and decision</a:t>
            </a:r>
            <a:br/>
            <a:r>
              <a:t>• Visualize lineage with graphs</a:t>
            </a:r>
            <a:br/>
            <a:r>
              <a:t>• Flag unexpected supported transfers</a:t>
            </a:r>
            <a:br/>
            <a:r>
              <a:t>• Identify detectable tracking / ad-sharing patterns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1828800"/>
          </a:xfrm>
          <a:prstGeom prst="rect">
            <a:avLst/>
          </a:prstGeom>
          <a:solidFill>
            <a:srgbClr val="E06960"/>
          </a:solidFill>
          <a:ln>
            <a:solidFill>
              <a:srgbClr val="E06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83080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1F3752"/>
                </a:solidFill>
                <a:latin typeface="Aptos"/>
              </a:defRPr>
            </a:pPr>
            <a:r>
              <a:t>Emergency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30552"/>
            <a:ext cx="3108960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5D6C7C"/>
                </a:solidFill>
                <a:latin typeface="Aptos"/>
              </a:defRPr>
            </a:pPr>
            <a:r>
              <a:t>• Freeze protected operations</a:t>
            </a:r>
            <a:br/>
            <a:r>
              <a:t>• Revoke tokens and isolate affected workers</a:t>
            </a:r>
            <a:br/>
            <a:r>
              <a:t>• Preserve forensic evidence</a:t>
            </a:r>
            <a:br/>
            <a:r>
              <a:t>• Restore from verified backups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77639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1F3752"/>
                </a:solidFill>
                <a:latin typeface="Aptos"/>
              </a:defRPr>
            </a:pPr>
            <a:r>
              <a:t>Example incident 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526280"/>
            <a:ext cx="2057400" cy="310896"/>
          </a:xfrm>
          <a:prstGeom prst="roundRect">
            <a:avLst/>
          </a:prstGeom>
          <a:solidFill>
            <a:srgbClr val="E0EEFA"/>
          </a:solidFill>
          <a:ln>
            <a:solidFill>
              <a:srgbClr val="E0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567428"/>
            <a:ext cx="200253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346EB0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562856"/>
            <a:ext cx="320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5D6C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4526280"/>
            <a:ext cx="2057400" cy="310896"/>
          </a:xfrm>
          <a:prstGeom prst="roundRect">
            <a:avLst/>
          </a:prstGeom>
          <a:solidFill>
            <a:srgbClr val="FFEFDC"/>
          </a:solidFill>
          <a:ln>
            <a:solidFill>
              <a:srgbClr val="FFE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85032" y="4567428"/>
            <a:ext cx="200253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E06960"/>
                </a:solidFill>
                <a:latin typeface="Aptos"/>
              </a:defRPr>
            </a:pPr>
            <a:r>
              <a:t>FREEZE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562856"/>
            <a:ext cx="320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5D6C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526280"/>
            <a:ext cx="2057400" cy="310896"/>
          </a:xfrm>
          <a:prstGeom prst="roundRect">
            <a:avLst/>
          </a:prstGeom>
          <a:solidFill>
            <a:srgbClr val="EEEBFA"/>
          </a:solidFill>
          <a:ln>
            <a:solidFill>
              <a:srgbClr val="EE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4567428"/>
            <a:ext cx="200253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346EB0"/>
                </a:solidFill>
                <a:latin typeface="Aptos"/>
              </a:defRPr>
            </a:pPr>
            <a:r>
              <a:t>INVESTIGATE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562856"/>
            <a:ext cx="320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5D6C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4526280"/>
            <a:ext cx="2057400" cy="310896"/>
          </a:xfrm>
          <a:prstGeom prst="roundRect">
            <a:avLst/>
          </a:prstGeom>
          <a:solidFill>
            <a:srgbClr val="E1F5F1"/>
          </a:solidFill>
          <a:ln>
            <a:solidFill>
              <a:srgbClr val="E1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71432" y="4567428"/>
            <a:ext cx="200253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22948B"/>
                </a:solidFill>
                <a:latin typeface="Aptos"/>
              </a:defRPr>
            </a:pPr>
            <a:r>
              <a:t>RECOVER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303520"/>
            <a:ext cx="105156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5486400"/>
            <a:ext cx="10058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5D6C7C"/>
                </a:solidFill>
                <a:latin typeface="Aptos"/>
              </a:defRPr>
            </a:pPr>
            <a:r>
              <a:t>Safety note: stopping future transfers cannot guarantee retrieval or deletion of data already copied outside the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8" name="Picture 27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21792" y="320040"/>
            <a:ext cx="10789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22948B"/>
                </a:solidFill>
                <a:latin typeface="Aptos"/>
              </a:defRPr>
            </a:pPr>
            <a:r>
              <a:t>A PRACTICAL PATH TO A WORKING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1F3752"/>
                </a:solidFill>
                <a:latin typeface="Aptos"/>
              </a:defRPr>
            </a:pPr>
            <a:r>
              <a:t>Architecture, Testing &amp; Expected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685800" cy="45720"/>
          </a:xfrm>
          <a:prstGeom prst="rect">
            <a:avLst/>
          </a:prstGeom>
          <a:solidFill>
            <a:srgbClr val="22948B"/>
          </a:solidFill>
          <a:ln>
            <a:solidFill>
              <a:srgbClr val="229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510528"/>
            <a:ext cx="1600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D6C7C"/>
                </a:solidFill>
                <a:latin typeface="Aptos"/>
              </a:defRPr>
            </a:pPr>
            <a:r>
              <a:t>KAVACH  •  7/7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64008" cy="1874519"/>
          </a:xfrm>
          <a:prstGeom prst="rect">
            <a:avLst/>
          </a:prstGeom>
          <a:solidFill>
            <a:srgbClr val="346EB0"/>
          </a:solidFill>
          <a:ln>
            <a:solidFill>
              <a:srgbClr val="346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1F3752"/>
                </a:solidFill>
                <a:latin typeface="Aptos"/>
              </a:defRPr>
            </a:pPr>
            <a:r>
              <a:t>Proposed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3108960" cy="13075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5D6C7C"/>
                </a:solidFill>
                <a:latin typeface="Aptos"/>
              </a:defRPr>
            </a:pPr>
            <a:r>
              <a:t>• Frontend: React + Tailwind</a:t>
            </a:r>
            <a:br/>
            <a:r>
              <a:t>• Backend: Python FastAPI</a:t>
            </a:r>
            <a:br/>
            <a:r>
              <a:t>• Agents: LangGraph / deterministic orchestration</a:t>
            </a:r>
            <a:br/>
            <a:r>
              <a:t>• Storage: PostgreSQL</a:t>
            </a:r>
            <a:br/>
            <a:r>
              <a:t>• Deployment: Render + scheduled Watchman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64008" cy="1874519"/>
          </a:xfrm>
          <a:prstGeom prst="rect">
            <a:avLst/>
          </a:prstGeom>
          <a:solidFill>
            <a:srgbClr val="F2B74B"/>
          </a:solidFill>
          <a:ln>
            <a:solidFill>
              <a:srgbClr val="F2B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37360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1F3752"/>
                </a:solidFill>
                <a:latin typeface="Aptos"/>
              </a:defRPr>
            </a:pPr>
            <a:r>
              <a:t>Validation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84832"/>
            <a:ext cx="3108960" cy="13075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5D6C7C"/>
                </a:solidFill>
                <a:latin typeface="Aptos"/>
              </a:defRPr>
            </a:pPr>
            <a:r>
              <a:t>• Synthetic policy and prompt-injection tests</a:t>
            </a:r>
            <a:br/>
            <a:r>
              <a:t>• Conflicting agent findings</a:t>
            </a:r>
            <a:br/>
            <a:r>
              <a:t>• Expired / replayed / wrong-destination tokens</a:t>
            </a:r>
            <a:br/>
            <a:r>
              <a:t>• Cross-user access and gateway-bypass tests</a:t>
            </a:r>
            <a:br/>
            <a:r>
              <a:t>• Backup recovery and audit checks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64008" cy="1874519"/>
          </a:xfrm>
          <a:prstGeom prst="rect">
            <a:avLst/>
          </a:prstGeom>
          <a:solidFill>
            <a:srgbClr val="22948B"/>
          </a:solidFill>
          <a:ln>
            <a:solidFill>
              <a:srgbClr val="229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37360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1F3752"/>
                </a:solidFill>
                <a:latin typeface="Aptos"/>
              </a:defRPr>
            </a:pPr>
            <a:r>
              <a:t>Expected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84832"/>
            <a:ext cx="3108960" cy="13075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5D6C7C"/>
                </a:solidFill>
                <a:latin typeface="Aptos"/>
              </a:defRPr>
            </a:pPr>
            <a:r>
              <a:t>• More understandable consent</a:t>
            </a:r>
            <a:br/>
            <a:r>
              <a:t>• User rules enforced at the gateway</a:t>
            </a:r>
            <a:br/>
            <a:r>
              <a:t>• Early alerts on policy changes</a:t>
            </a:r>
            <a:br/>
            <a:r>
              <a:t>• Auditable decisions and incident response</a:t>
            </a:r>
            <a:br/>
            <a:r>
              <a:t>• A reusable Guardian API for AI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1F3752"/>
                </a:solidFill>
                <a:latin typeface="Aptos"/>
              </a:defRPr>
            </a:pPr>
            <a:r>
              <a:t>Implementation priorities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389120"/>
            <a:ext cx="3291840" cy="310896"/>
          </a:xfrm>
          <a:prstGeom prst="roundRect">
            <a:avLst/>
          </a:prstGeom>
          <a:solidFill>
            <a:srgbClr val="E1F5F1"/>
          </a:solidFill>
          <a:ln>
            <a:solidFill>
              <a:srgbClr val="E1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430268"/>
            <a:ext cx="32369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22948B"/>
                </a:solidFill>
                <a:latin typeface="Aptos"/>
              </a:defRPr>
            </a:pPr>
            <a:r>
              <a:t>P0  Authentication + rules + Guardian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4389120"/>
            <a:ext cx="3154680" cy="310896"/>
          </a:xfrm>
          <a:prstGeom prst="roundRect">
            <a:avLst/>
          </a:prstGeom>
          <a:solidFill>
            <a:srgbClr val="E0EEFA"/>
          </a:solidFill>
          <a:ln>
            <a:solidFill>
              <a:srgbClr val="E0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5112" y="4430268"/>
            <a:ext cx="309981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346EB0"/>
                </a:solidFill>
                <a:latin typeface="Aptos"/>
              </a:defRPr>
            </a:pPr>
            <a:r>
              <a:t>P1  Audit + tracking + Watchman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4389120"/>
            <a:ext cx="3246120" cy="310896"/>
          </a:xfrm>
          <a:prstGeom prst="roundRect">
            <a:avLst/>
          </a:prstGeom>
          <a:solidFill>
            <a:srgbClr val="FFEFDC"/>
          </a:solidFill>
          <a:ln>
            <a:solidFill>
              <a:srgbClr val="FFE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08392" y="4430268"/>
            <a:ext cx="319125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A66F1A"/>
                </a:solidFill>
                <a:latin typeface="Aptos"/>
              </a:defRPr>
            </a:pPr>
            <a:r>
              <a:t>P2  Chatbot + graphs + integrations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166360"/>
            <a:ext cx="10515600" cy="822960"/>
          </a:xfrm>
          <a:prstGeom prst="roundRect">
            <a:avLst/>
          </a:prstGeom>
          <a:solidFill>
            <a:srgbClr val="1F3752"/>
          </a:solidFill>
          <a:ln>
            <a:solidFill>
              <a:srgbClr val="1F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422392"/>
            <a:ext cx="10058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KAVACH — Consent should stay informed, current, and under human control.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6126480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22948B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