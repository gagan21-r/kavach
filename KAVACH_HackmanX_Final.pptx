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inzel" panose="020B0604020202020204" charset="0"/>
      <p:regular r:id="rId10"/>
    </p:embeddedFont>
    <p:embeddedFont>
      <p:font typeface="Cinzel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crore)</c:v>
                </c:pt>
              </c:strCache>
            </c:strRef>
          </c:tx>
          <c:spPr>
            <a:solidFill>
              <a:srgbClr val="A3201F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</c:v>
                </c:pt>
                <c:pt idx="1">
                  <c:v>2.7</c:v>
                </c:pt>
                <c:pt idx="2">
                  <c:v>12.2</c:v>
                </c:pt>
              </c:numCache>
            </c:numRef>
          </c:val>
        </c:ser>
        <c:dLbls>
          <c:numFmt formatCode="&quot;₹&quot;0.0&quot; Cr&quot;" sourceLinked="0"/>
          <c:txPr>
            <a:bodyPr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A1A1A"/>
            </a:solidFill>
          </a:ln>
        </c:spPr>
        <c:txPr>
          <a:bodyPr/>
          <a:lstStyle/>
          <a:p>
            <a:pPr>
              <a:defRPr sz="16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A1A1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svg"/><Relationship Id="rId5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71243" y="745666"/>
            <a:ext cx="9386853" cy="4397834"/>
            <a:chOff x="0" y="0"/>
            <a:chExt cx="12515805" cy="5863778"/>
          </a:xfrm>
        </p:grpSpPr>
        <p:sp>
          <p:nvSpPr>
            <p:cNvPr id="3" name="Freeform 3"/>
            <p:cNvSpPr/>
            <p:nvPr/>
          </p:nvSpPr>
          <p:spPr>
            <a:xfrm>
              <a:off x="1085451" y="0"/>
              <a:ext cx="9252717" cy="2454651"/>
            </a:xfrm>
            <a:custGeom>
              <a:avLst/>
              <a:gdLst/>
              <a:ahLst/>
              <a:cxnLst/>
              <a:rect l="l" t="t" r="r" b="b"/>
              <a:pathLst>
                <a:path w="9252717" h="2454651">
                  <a:moveTo>
                    <a:pt x="0" y="0"/>
                  </a:moveTo>
                  <a:lnTo>
                    <a:pt x="9252717" y="0"/>
                  </a:lnTo>
                  <a:lnTo>
                    <a:pt x="9252717" y="2454651"/>
                  </a:lnTo>
                  <a:lnTo>
                    <a:pt x="0" y="2454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648"/>
              </a:stretch>
            </a:blipFill>
          </p:spPr>
          <p:txBody>
            <a:bodyPr/>
            <a:p/>
          </p:txBody>
        </p:sp>
        <p:sp>
          <p:nvSpPr>
            <p:cNvPr id="4" name="Freeform 4"/>
            <p:cNvSpPr/>
            <p:nvPr/>
          </p:nvSpPr>
          <p:spPr>
            <a:xfrm>
              <a:off x="10059025" y="146847"/>
              <a:ext cx="2382877" cy="2475867"/>
            </a:xfrm>
            <a:custGeom>
              <a:avLst/>
              <a:gdLst/>
              <a:ahLst/>
              <a:cxnLst/>
              <a:rect l="l" t="t" r="r" b="b"/>
              <a:pathLst>
                <a:path w="2382877" h="2475867">
                  <a:moveTo>
                    <a:pt x="0" y="0"/>
                  </a:moveTo>
                  <a:lnTo>
                    <a:pt x="2382876" y="0"/>
                  </a:lnTo>
                  <a:lnTo>
                    <a:pt x="2382876" y="2475867"/>
                  </a:lnTo>
                  <a:lnTo>
                    <a:pt x="0" y="2475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5" name="TextBox 5"/>
            <p:cNvSpPr txBox="1"/>
            <p:nvPr/>
          </p:nvSpPr>
          <p:spPr>
            <a:xfrm>
              <a:off x="1641955" y="2226475"/>
              <a:ext cx="7880033" cy="396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149">
                  <a:solidFill>
                    <a:srgbClr val="430201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“Some ideas belong to other dimensions”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77638" y="3491770"/>
              <a:ext cx="9252715" cy="13024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7894"/>
                </a:lnSpc>
                <a:spcBef>
                  <a:spcPct val="0"/>
                </a:spcBef>
              </a:pPr>
              <a:r>
                <a:rPr lang="en-US" sz="5639" b="1" spc="468" dirty="0">
                  <a:solidFill>
                    <a:srgbClr val="000000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KAVACH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33145"/>
              <a:ext cx="12515805" cy="11306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85"/>
                </a:lnSpc>
                <a:spcBef>
                  <a:spcPct val="0"/>
                </a:spcBef>
              </a:pPr>
              <a:r>
                <a:rPr lang="en-US" sz="3400" b="1" spc="431" dirty="0">
                  <a:solidFill>
                    <a:srgbClr val="000000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Consent Firewall for AI Agents (Software)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1451603" y="8009625"/>
            <a:ext cx="6836397" cy="2277375"/>
          </a:xfrm>
          <a:custGeom>
            <a:avLst/>
            <a:gdLst/>
            <a:ahLst/>
            <a:cxnLst/>
            <a:rect l="l" t="t" r="r" b="b"/>
            <a:pathLst>
              <a:path w="6836397" h="2277375">
                <a:moveTo>
                  <a:pt x="0" y="0"/>
                </a:moveTo>
                <a:lnTo>
                  <a:pt x="6836397" y="0"/>
                </a:lnTo>
                <a:lnTo>
                  <a:pt x="6836397" y="2277375"/>
                </a:lnTo>
                <a:lnTo>
                  <a:pt x="0" y="227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9" name="Freeform 9"/>
          <p:cNvSpPr/>
          <p:nvPr/>
        </p:nvSpPr>
        <p:spPr>
          <a:xfrm>
            <a:off x="361143" y="583413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0" name="Freeform 10"/>
          <p:cNvSpPr/>
          <p:nvPr/>
        </p:nvSpPr>
        <p:spPr>
          <a:xfrm rot="5400000">
            <a:off x="361143" y="30553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1" name="Freeform 11"/>
          <p:cNvSpPr/>
          <p:nvPr/>
        </p:nvSpPr>
        <p:spPr>
          <a:xfrm rot="-10800000">
            <a:off x="13867672" y="30553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1028700" y="6255044"/>
            <a:ext cx="10200000" cy="976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94"/>
              </a:lnSpc>
              <a:spcBef>
                <a:spcPct val="0"/>
              </a:spcBef>
            </a:pPr>
            <a:r>
              <a:rPr lang="en-US" sz="4400" b="1" spc="468" dirty="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Team: Tech Architects</a:t>
            </a:r>
          </a:p>
        </p:txBody>
      </p:sp>
      <p:sp>
        <p:nvSpPr>
          <p:cNvPr id="13" name="Tagline"/>
          <p:cNvSpPr txBox="1"/>
          <p:nvPr/>
        </p:nvSpPr>
        <p:spPr>
          <a:xfrm>
            <a:off x="1033271" y="7269480"/>
            <a:ext cx="896112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4A4640"/>
                </a:solidFill>
                <a:latin typeface="Arial"/>
              </a:rPr>
              <a:t>Reads every privacy policy and terms page, enforces your consent rules on AI agents, and keeps watching for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1143" y="321798"/>
            <a:ext cx="17411055" cy="9643404"/>
            <a:chOff x="0" y="0"/>
            <a:chExt cx="23214740" cy="12857872"/>
          </a:xfrm>
        </p:grpSpPr>
        <p:sp>
          <p:nvSpPr>
            <p:cNvPr id="3" name="Freeform 3"/>
            <p:cNvSpPr/>
            <p:nvPr/>
          </p:nvSpPr>
          <p:spPr>
            <a:xfrm>
              <a:off x="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4" name="Freeform 4"/>
            <p:cNvSpPr/>
            <p:nvPr/>
          </p:nvSpPr>
          <p:spPr>
            <a:xfrm rot="5400000"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5" name="Freeform 5"/>
            <p:cNvSpPr/>
            <p:nvPr/>
          </p:nvSpPr>
          <p:spPr>
            <a:xfrm flipH="1">
              <a:off x="1772834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54864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5486400" y="5486400"/>
                  </a:lnTo>
                  <a:lnTo>
                    <a:pt x="548640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</p:grpSp>
      <p:grpSp>
        <p:nvGrpSpPr>
          <p:cNvPr id="6" name="Group 6"/>
          <p:cNvGrpSpPr/>
          <p:nvPr/>
        </p:nvGrpSpPr>
        <p:grpSpPr>
          <a:xfrm>
            <a:off x="14030841" y="585288"/>
            <a:ext cx="3741357" cy="796100"/>
            <a:chOff x="0" y="0"/>
            <a:chExt cx="4988475" cy="1061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66876" cy="1052371"/>
            </a:xfrm>
            <a:custGeom>
              <a:avLst/>
              <a:gdLst/>
              <a:ahLst/>
              <a:cxnLst/>
              <a:rect l="l" t="t" r="r" b="b"/>
              <a:pathLst>
                <a:path w="3966876" h="1052371">
                  <a:moveTo>
                    <a:pt x="0" y="0"/>
                  </a:moveTo>
                  <a:lnTo>
                    <a:pt x="3966876" y="0"/>
                  </a:lnTo>
                  <a:lnTo>
                    <a:pt x="3966876" y="1052371"/>
                  </a:lnTo>
                  <a:lnTo>
                    <a:pt x="0" y="1052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5648"/>
              </a:stretch>
            </a:blipFill>
          </p:spPr>
          <p:txBody>
            <a:bodyPr/>
            <a:p/>
          </p:txBody>
        </p:sp>
        <p:sp>
          <p:nvSpPr>
            <p:cNvPr id="8" name="Freeform 8"/>
            <p:cNvSpPr/>
            <p:nvPr/>
          </p:nvSpPr>
          <p:spPr>
            <a:xfrm>
              <a:off x="3966876" y="0"/>
              <a:ext cx="1021600" cy="1061467"/>
            </a:xfrm>
            <a:custGeom>
              <a:avLst/>
              <a:gdLst/>
              <a:ahLst/>
              <a:cxnLst/>
              <a:rect l="l" t="t" r="r" b="b"/>
              <a:pathLst>
                <a:path w="1021600" h="1061467">
                  <a:moveTo>
                    <a:pt x="0" y="0"/>
                  </a:moveTo>
                  <a:lnTo>
                    <a:pt x="1021599" y="0"/>
                  </a:lnTo>
                  <a:lnTo>
                    <a:pt x="1021599" y="1061467"/>
                  </a:lnTo>
                  <a:lnTo>
                    <a:pt x="0" y="1061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p/>
          </p:txBody>
        </p:sp>
      </p:grpSp>
      <p:sp>
        <p:nvSpPr>
          <p:cNvPr id="9" name="TextBox 9"/>
          <p:cNvSpPr txBox="1"/>
          <p:nvPr/>
        </p:nvSpPr>
        <p:spPr>
          <a:xfrm>
            <a:off x="7028398" y="470988"/>
            <a:ext cx="4249201" cy="976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94"/>
              </a:lnSpc>
              <a:spcBef>
                <a:spcPct val="0"/>
              </a:spcBef>
            </a:pPr>
            <a:r>
              <a:rPr lang="en-US" sz="5639" b="1" spc="468" dirty="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CONTENT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2129" y="1829117"/>
            <a:ext cx="15554024" cy="639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endParaRPr dirty="0"/>
          </a:p>
          <a:p>
            <a:pPr marL="863599" lvl="1" indent="-431800" algn="l">
              <a:lnSpc>
                <a:spcPts val="7279"/>
              </a:lnSpc>
              <a:buAutoNum type="arabicPeriod"/>
            </a:pPr>
            <a:r>
              <a:rPr lang="en-US" sz="3999" b="1" spc="331" dirty="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Problem Statement</a:t>
            </a:r>
          </a:p>
          <a:p>
            <a:pPr marL="863599" lvl="1" indent="-431800" algn="l">
              <a:lnSpc>
                <a:spcPts val="7279"/>
              </a:lnSpc>
              <a:buAutoNum type="arabicPeriod"/>
            </a:pPr>
            <a:r>
              <a:rPr lang="en-US" sz="3999" b="1" spc="331" dirty="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Our Solution and What Makes It Unique</a:t>
            </a:r>
          </a:p>
          <a:p>
            <a:pPr marL="863599" lvl="1" indent="-431800" algn="l">
              <a:lnSpc>
                <a:spcPts val="7279"/>
              </a:lnSpc>
              <a:buAutoNum type="arabicPeriod"/>
            </a:pPr>
            <a:r>
              <a:rPr lang="en-US" sz="3999" b="1" spc="331" dirty="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Technical Architecture and Tech Stack</a:t>
            </a:r>
          </a:p>
          <a:p>
            <a:pPr marL="863599" lvl="1" indent="-431800" algn="l">
              <a:lnSpc>
                <a:spcPts val="7279"/>
              </a:lnSpc>
              <a:buAutoNum type="arabicPeriod"/>
            </a:pPr>
            <a:r>
              <a:rPr lang="en-US" sz="3999" b="1" spc="331" dirty="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Business Model and Revenue Plan</a:t>
            </a:r>
          </a:p>
          <a:p>
            <a:pPr marL="863599" lvl="1" indent="-431800" algn="l">
              <a:lnSpc>
                <a:spcPts val="7279"/>
              </a:lnSpc>
              <a:buAutoNum type="arabicPeriod"/>
            </a:pPr>
            <a:r>
              <a:rPr lang="en-US" sz="3999" b="1" spc="331" dirty="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Market Opportunity and Revenue Plan</a:t>
            </a:r>
          </a:p>
          <a:p>
            <a:pPr marL="863599" lvl="1" indent="-431800" algn="l">
              <a:lnSpc>
                <a:spcPts val="7279"/>
              </a:lnSpc>
              <a:spcBef>
                <a:spcPct val="0"/>
              </a:spcBef>
              <a:buAutoNum type="arabicPeriod"/>
            </a:pPr>
            <a:r>
              <a:rPr lang="en-US" sz="3999" b="1" spc="331" dirty="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Impact and 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0841" y="585288"/>
            <a:ext cx="3741357" cy="796100"/>
            <a:chOff x="0" y="0"/>
            <a:chExt cx="4988475" cy="1061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6876" cy="1052371"/>
            </a:xfrm>
            <a:custGeom>
              <a:avLst/>
              <a:gdLst/>
              <a:ahLst/>
              <a:cxnLst/>
              <a:rect l="l" t="t" r="r" b="b"/>
              <a:pathLst>
                <a:path w="3966876" h="1052371">
                  <a:moveTo>
                    <a:pt x="0" y="0"/>
                  </a:moveTo>
                  <a:lnTo>
                    <a:pt x="3966876" y="0"/>
                  </a:lnTo>
                  <a:lnTo>
                    <a:pt x="3966876" y="1052371"/>
                  </a:lnTo>
                  <a:lnTo>
                    <a:pt x="0" y="1052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648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966876" y="0"/>
              <a:ext cx="1021600" cy="1061467"/>
            </a:xfrm>
            <a:custGeom>
              <a:avLst/>
              <a:gdLst/>
              <a:ahLst/>
              <a:cxnLst/>
              <a:rect l="l" t="t" r="r" b="b"/>
              <a:pathLst>
                <a:path w="1021600" h="1061467">
                  <a:moveTo>
                    <a:pt x="0" y="0"/>
                  </a:moveTo>
                  <a:lnTo>
                    <a:pt x="1021599" y="0"/>
                  </a:lnTo>
                  <a:lnTo>
                    <a:pt x="1021599" y="1061467"/>
                  </a:lnTo>
                  <a:lnTo>
                    <a:pt x="0" y="1061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361143" y="305533"/>
            <a:ext cx="17411055" cy="9643404"/>
            <a:chOff x="0" y="0"/>
            <a:chExt cx="23214740" cy="12857872"/>
          </a:xfrm>
        </p:grpSpPr>
        <p:sp>
          <p:nvSpPr>
            <p:cNvPr id="6" name="Freeform 6"/>
            <p:cNvSpPr/>
            <p:nvPr/>
          </p:nvSpPr>
          <p:spPr>
            <a:xfrm>
              <a:off x="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5400000"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1772834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54864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5486400" y="5486400"/>
                  </a:lnTo>
                  <a:lnTo>
                    <a:pt x="548640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194000" y="9800000"/>
            <a:ext cx="1900000" cy="339725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66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PAGE 3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914400" y="566928"/>
            <a:ext cx="127101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 spc="300">
                <a:solidFill>
                  <a:srgbClr val="1A1A1A"/>
                </a:solidFill>
                <a:latin typeface="Cinzel Bold"/>
                <a:ea typeface="Cinzel Bold"/>
                <a:cs typeface="Cinzel Bold"/>
              </a:rPr>
              <a:t>PROBLEM STATEMENT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914400" y="1481328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100" b="0" i="1">
                <a:solidFill>
                  <a:srgbClr val="A3201F"/>
                </a:solidFill>
                <a:latin typeface="Arial"/>
              </a:rPr>
              <a:t>Nobody reads the terms. Now AI agents click “I agree” on our behalf.</a:t>
            </a:r>
          </a:p>
        </p:txBody>
      </p:sp>
      <p:sp>
        <p:nvSpPr>
          <p:cNvPr id="12" name="Stat panel"/>
          <p:cNvSpPr/>
          <p:nvPr/>
        </p:nvSpPr>
        <p:spPr>
          <a:xfrm>
            <a:off x="914400" y="2331720"/>
            <a:ext cx="4937760" cy="635508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25880" y="27432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9600" b="1" i="0">
                <a:solidFill>
                  <a:srgbClr val="FFF4E0"/>
                </a:solidFill>
                <a:latin typeface="Cinzel Bold"/>
                <a:ea typeface="Cinzel Bold"/>
                <a:cs typeface="Cinzel Bold"/>
              </a:rPr>
              <a:t>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572000"/>
            <a:ext cx="420624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4E0"/>
                </a:solidFill>
                <a:latin typeface="Arial"/>
              </a:rPr>
              <a:t>of people accept terms and conditions without reading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6720840"/>
            <a:ext cx="420624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6E6C8"/>
                </a:solidFill>
                <a:latin typeface="Arial"/>
              </a:rPr>
              <a:t>So data sale, AI training and long retention go unnoticed, and AI agents make it worse by agreeing even faster.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82753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F6E6C8"/>
                </a:solidFill>
                <a:latin typeface="Arial"/>
              </a:rPr>
              <a:t>Source: Deloitte survey, 2017</a:t>
            </a:r>
          </a:p>
        </p:txBody>
      </p:sp>
      <p:sp>
        <p:nvSpPr>
          <p:cNvPr id="17" name="Problem 1"/>
          <p:cNvSpPr/>
          <p:nvPr/>
        </p:nvSpPr>
        <p:spPr>
          <a:xfrm>
            <a:off x="6263640" y="2331720"/>
            <a:ext cx="5394960" cy="301752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583679" y="2651760"/>
            <a:ext cx="566928" cy="566928"/>
          </a:xfrm>
          <a:prstGeom prst="ellipse">
            <a:avLst/>
          </a:prstGeom>
          <a:solidFill>
            <a:srgbClr val="A3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2679191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Policies are unreadable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47472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 i="0">
                <a:solidFill>
                  <a:srgbClr val="4A4640"/>
                </a:solidFill>
                <a:latin typeface="Arial"/>
              </a:rPr>
              <a:t>Long legal text hides what is collected, shared, sold or used to train AI models.</a:t>
            </a:r>
          </a:p>
        </p:txBody>
      </p:sp>
      <p:sp>
        <p:nvSpPr>
          <p:cNvPr id="21" name="Problem 2"/>
          <p:cNvSpPr/>
          <p:nvPr/>
        </p:nvSpPr>
        <p:spPr>
          <a:xfrm>
            <a:off x="11978640" y="2331720"/>
            <a:ext cx="5394960" cy="301752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2298680" y="2651760"/>
            <a:ext cx="566928" cy="566928"/>
          </a:xfrm>
          <a:prstGeom prst="ellipse">
            <a:avLst/>
          </a:prstGeom>
          <a:solidFill>
            <a:srgbClr val="A3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75919" y="2679191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Consent goes stale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98680" y="3474720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 i="0">
                <a:solidFill>
                  <a:srgbClr val="4A4640"/>
                </a:solidFill>
                <a:latin typeface="Arial"/>
              </a:rPr>
              <a:t>Policies change after you agree. New partners and new uses slip in without you noticing.</a:t>
            </a:r>
          </a:p>
        </p:txBody>
      </p:sp>
      <p:sp>
        <p:nvSpPr>
          <p:cNvPr id="25" name="Problem 3"/>
          <p:cNvSpPr/>
          <p:nvPr/>
        </p:nvSpPr>
        <p:spPr>
          <a:xfrm>
            <a:off x="6263640" y="5669279"/>
            <a:ext cx="5394960" cy="301752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583679" y="5989319"/>
            <a:ext cx="566928" cy="566928"/>
          </a:xfrm>
          <a:prstGeom prst="ellipse">
            <a:avLst/>
          </a:prstGeom>
          <a:solidFill>
            <a:srgbClr val="A3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6016751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AI agents act for 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6812279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 i="0">
                <a:solidFill>
                  <a:srgbClr val="4A4640"/>
                </a:solidFill>
                <a:latin typeface="Arial"/>
              </a:rPr>
              <a:t>Agents sign up, accept terms and share data, and hidden text on a page can trick them (prompt injection).</a:t>
            </a:r>
          </a:p>
        </p:txBody>
      </p:sp>
      <p:sp>
        <p:nvSpPr>
          <p:cNvPr id="29" name="Problem 4"/>
          <p:cNvSpPr/>
          <p:nvPr/>
        </p:nvSpPr>
        <p:spPr>
          <a:xfrm>
            <a:off x="11978640" y="5669279"/>
            <a:ext cx="5394960" cy="301752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2298680" y="5989319"/>
            <a:ext cx="566928" cy="566928"/>
          </a:xfrm>
          <a:prstGeom prst="ellipse">
            <a:avLst/>
          </a:prstGeom>
          <a:solidFill>
            <a:srgbClr val="A3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75919" y="6016751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A1A1A"/>
                </a:solidFill>
                <a:latin typeface="Arial"/>
              </a:rPr>
              <a:t>No control, no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98680" y="6812279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 i="0">
                <a:solidFill>
                  <a:srgbClr val="4A4640"/>
                </a:solidFill>
                <a:latin typeface="Arial"/>
              </a:rPr>
              <a:t>No per-site boundaries, no fast way to stop an agent, and no record of what was shared or why.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8915400"/>
            <a:ext cx="16459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Who is affected: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every internet user, and every company deploying AI agents that must now prove consent (India’s DPDP Act 2023, EU GDPR).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0841" y="585288"/>
            <a:ext cx="3741357" cy="796100"/>
            <a:chOff x="0" y="0"/>
            <a:chExt cx="4988475" cy="1061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6876" cy="1052371"/>
            </a:xfrm>
            <a:custGeom>
              <a:avLst/>
              <a:gdLst/>
              <a:ahLst/>
              <a:cxnLst/>
              <a:rect l="l" t="t" r="r" b="b"/>
              <a:pathLst>
                <a:path w="3966876" h="1052371">
                  <a:moveTo>
                    <a:pt x="0" y="0"/>
                  </a:moveTo>
                  <a:lnTo>
                    <a:pt x="3966876" y="0"/>
                  </a:lnTo>
                  <a:lnTo>
                    <a:pt x="3966876" y="1052371"/>
                  </a:lnTo>
                  <a:lnTo>
                    <a:pt x="0" y="1052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648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966876" y="0"/>
              <a:ext cx="1021600" cy="1061467"/>
            </a:xfrm>
            <a:custGeom>
              <a:avLst/>
              <a:gdLst/>
              <a:ahLst/>
              <a:cxnLst/>
              <a:rect l="l" t="t" r="r" b="b"/>
              <a:pathLst>
                <a:path w="1021600" h="1061467">
                  <a:moveTo>
                    <a:pt x="0" y="0"/>
                  </a:moveTo>
                  <a:lnTo>
                    <a:pt x="1021599" y="0"/>
                  </a:lnTo>
                  <a:lnTo>
                    <a:pt x="1021599" y="1061467"/>
                  </a:lnTo>
                  <a:lnTo>
                    <a:pt x="0" y="1061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361143" y="305533"/>
            <a:ext cx="17411055" cy="9643404"/>
            <a:chOff x="0" y="0"/>
            <a:chExt cx="23214740" cy="12857872"/>
          </a:xfrm>
        </p:grpSpPr>
        <p:sp>
          <p:nvSpPr>
            <p:cNvPr id="6" name="Freeform 6"/>
            <p:cNvSpPr/>
            <p:nvPr/>
          </p:nvSpPr>
          <p:spPr>
            <a:xfrm>
              <a:off x="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5400000"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1772834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54864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5486400" y="5486400"/>
                  </a:lnTo>
                  <a:lnTo>
                    <a:pt x="548640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194000" y="9800000"/>
            <a:ext cx="1900000" cy="339725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66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PAGE 4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914400" y="566928"/>
            <a:ext cx="127101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 spc="300">
                <a:solidFill>
                  <a:srgbClr val="1A1A1A"/>
                </a:solidFill>
                <a:latin typeface="Cinzel Bold"/>
                <a:ea typeface="Cinzel Bold"/>
                <a:cs typeface="Cinzel Bold"/>
              </a:rPr>
              <a:t>OUR SOLUTION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914400" y="1481328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100" b="0" i="1">
                <a:solidFill>
                  <a:srgbClr val="A3201F"/>
                </a:solidFill>
                <a:latin typeface="Arial"/>
              </a:rPr>
              <a:t>KAVACH is a consent firewall between you, the websites you use and your AI agents.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 spc="200">
                <a:solidFill>
                  <a:srgbClr val="A3201F"/>
                </a:solidFill>
                <a:latin typeface="Arial"/>
              </a:rPr>
              <a:t>HOW IT WORKS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88920"/>
            <a:ext cx="566928" cy="566928"/>
          </a:xfrm>
          <a:prstGeom prst="ellipse">
            <a:avLst/>
          </a:prstGeom>
          <a:solidFill>
            <a:srgbClr val="A3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97864" y="3429000"/>
            <a:ext cx="0" cy="877824"/>
          </a:xfrm>
          <a:prstGeom prst="line">
            <a:avLst/>
          </a:prstGeom>
          <a:ln w="19050">
            <a:solidFill>
              <a:srgbClr val="A320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1640" y="2807208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Set your rules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264408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4A4640"/>
                </a:solidFill>
                <a:latin typeface="Arial"/>
              </a:rPr>
              <a:t>At sign-up you choose what data is OK, Ask me or Never. Group sites (Shopping, Work…): inside a group, anything not allowed is denied.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361688"/>
            <a:ext cx="566928" cy="566928"/>
          </a:xfrm>
          <a:prstGeom prst="ellipse">
            <a:avLst/>
          </a:prstGeom>
          <a:solidFill>
            <a:srgbClr val="A3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97864" y="5001768"/>
            <a:ext cx="0" cy="877824"/>
          </a:xfrm>
          <a:prstGeom prst="line">
            <a:avLst/>
          </a:prstGeom>
          <a:ln w="19050">
            <a:solidFill>
              <a:srgbClr val="A320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91640" y="4379975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Kavach reads the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37175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4A4640"/>
                </a:solidFill>
                <a:latin typeface="Arial"/>
              </a:rPr>
              <a:t>On any terms page the browser extension shows one review: a risk score, confidence and the risky clauses, quoted from the text.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934456"/>
            <a:ext cx="566928" cy="566928"/>
          </a:xfrm>
          <a:prstGeom prst="ellipse">
            <a:avLst/>
          </a:prstGeom>
          <a:solidFill>
            <a:srgbClr val="A3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97864" y="6574536"/>
            <a:ext cx="0" cy="877824"/>
          </a:xfrm>
          <a:prstGeom prst="line">
            <a:avLst/>
          </a:prstGeom>
          <a:ln w="19050">
            <a:solidFill>
              <a:srgbClr val="A320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91640" y="5952744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Agents must ask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6409944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4A4640"/>
                </a:solidFill>
                <a:latin typeface="Arial"/>
              </a:rPr>
              <a:t>The Guardian checks each agent request against your rules and issues a one-time, scoped token. The gateway blocks everything else.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7507224"/>
            <a:ext cx="566928" cy="566928"/>
          </a:xfrm>
          <a:prstGeom prst="ellipse">
            <a:avLst/>
          </a:prstGeom>
          <a:solidFill>
            <a:srgbClr val="A3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7525512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It keeps watching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7982712"/>
            <a:ext cx="71323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4A4640"/>
                </a:solidFill>
                <a:latin typeface="Arial"/>
              </a:rPr>
              <a:t>Tracked policies are re-checked every 6 hours and on update emails. A real change pauses old permissions and notifies you.</a:t>
            </a:r>
          </a:p>
        </p:txBody>
      </p:sp>
      <p:sp>
        <p:nvSpPr>
          <p:cNvPr id="28" name="Unique panel"/>
          <p:cNvSpPr/>
          <p:nvPr/>
        </p:nvSpPr>
        <p:spPr>
          <a:xfrm>
            <a:off x="9281160" y="2240280"/>
            <a:ext cx="8092440" cy="690372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92640" y="25603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 spc="200">
                <a:solidFill>
                  <a:srgbClr val="FFF4E0"/>
                </a:solidFill>
                <a:latin typeface="Arial"/>
              </a:rPr>
              <a:t>WHAT MAKES IT UNIQUE</a:t>
            </a:r>
          </a:p>
        </p:txBody>
      </p:sp>
      <p:sp>
        <p:nvSpPr>
          <p:cNvPr id="30" name="Oval 29"/>
          <p:cNvSpPr/>
          <p:nvPr/>
        </p:nvSpPr>
        <p:spPr>
          <a:xfrm>
            <a:off x="9692640" y="3236976"/>
            <a:ext cx="384048" cy="384048"/>
          </a:xfrm>
          <a:prstGeom prst="ellipse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3200400"/>
            <a:ext cx="6812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4E0"/>
                </a:solidFill>
                <a:latin typeface="Arial"/>
              </a:rPr>
              <a:t>Enforces, not just explains.</a:t>
            </a:r>
            <a:r>
              <a:rPr sz="1700" b="0" i="0">
                <a:solidFill>
                  <a:srgbClr val="F6E6C8"/>
                </a:solidFill>
                <a:latin typeface="Arial"/>
              </a:rPr>
              <a:t> Data is stopped at the gateway the moment an agent tries to send it.</a:t>
            </a:r>
          </a:p>
        </p:txBody>
      </p:sp>
      <p:sp>
        <p:nvSpPr>
          <p:cNvPr id="32" name="Oval 31"/>
          <p:cNvSpPr/>
          <p:nvPr/>
        </p:nvSpPr>
        <p:spPr>
          <a:xfrm>
            <a:off x="9692640" y="4215384"/>
            <a:ext cx="384048" cy="384048"/>
          </a:xfrm>
          <a:prstGeom prst="ellipse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4178808"/>
            <a:ext cx="6812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4E0"/>
                </a:solidFill>
                <a:latin typeface="Arial"/>
              </a:rPr>
              <a:t>A court of six AI agents.</a:t>
            </a:r>
            <a:r>
              <a:rPr sz="1700" b="0" i="0">
                <a:solidFill>
                  <a:srgbClr val="F6E6C8"/>
                </a:solidFill>
                <a:latin typeface="Arial"/>
              </a:rPr>
              <a:t> Prosecutor vs Defense, an Evidence Clerk verifies every quote, an Auditor checks the Judge.</a:t>
            </a:r>
          </a:p>
        </p:txBody>
      </p:sp>
      <p:sp>
        <p:nvSpPr>
          <p:cNvPr id="34" name="Oval 33"/>
          <p:cNvSpPr/>
          <p:nvPr/>
        </p:nvSpPr>
        <p:spPr>
          <a:xfrm>
            <a:off x="9692640" y="5193792"/>
            <a:ext cx="384048" cy="384048"/>
          </a:xfrm>
          <a:prstGeom prst="ellipse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5157216"/>
            <a:ext cx="6812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4E0"/>
                </a:solidFill>
                <a:latin typeface="Arial"/>
              </a:rPr>
              <a:t>Consent that stays current.</a:t>
            </a:r>
            <a:r>
              <a:rPr sz="1700" b="0" i="0">
                <a:solidFill>
                  <a:srgbClr val="F6E6C8"/>
                </a:solidFill>
                <a:latin typeface="Arial"/>
              </a:rPr>
              <a:t> A material policy change pauses permissions given for the old wording.</a:t>
            </a:r>
          </a:p>
        </p:txBody>
      </p:sp>
      <p:sp>
        <p:nvSpPr>
          <p:cNvPr id="36" name="Oval 35"/>
          <p:cNvSpPr/>
          <p:nvPr/>
        </p:nvSpPr>
        <p:spPr>
          <a:xfrm>
            <a:off x="9692640" y="6172200"/>
            <a:ext cx="384048" cy="384048"/>
          </a:xfrm>
          <a:prstGeom prst="ellipse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135624"/>
            <a:ext cx="6812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4E0"/>
                </a:solidFill>
                <a:latin typeface="Arial"/>
              </a:rPr>
              <a:t>Catches hidden instructions.</a:t>
            </a:r>
            <a:r>
              <a:rPr sz="1700" b="0" i="0">
                <a:solidFill>
                  <a:srgbClr val="F6E6C8"/>
                </a:solidFill>
                <a:latin typeface="Arial"/>
              </a:rPr>
              <a:t> Flags page text written to trick AI agents into agreeing.</a:t>
            </a:r>
          </a:p>
        </p:txBody>
      </p:sp>
      <p:sp>
        <p:nvSpPr>
          <p:cNvPr id="38" name="Oval 37"/>
          <p:cNvSpPr/>
          <p:nvPr/>
        </p:nvSpPr>
        <p:spPr>
          <a:xfrm>
            <a:off x="9692640" y="7150608"/>
            <a:ext cx="384048" cy="384048"/>
          </a:xfrm>
          <a:prstGeom prst="ellipse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7114032"/>
            <a:ext cx="6812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4E0"/>
                </a:solidFill>
                <a:latin typeface="Arial"/>
              </a:rPr>
              <a:t>Deny by default, per site group.</a:t>
            </a:r>
            <a:r>
              <a:rPr sz="1700" b="0" i="0">
                <a:solidFill>
                  <a:srgbClr val="F6E6C8"/>
                </a:solidFill>
                <a:latin typeface="Arial"/>
              </a:rPr>
              <a:t> Only what you allowed gets through; Emergency Stop freezes every agent.</a:t>
            </a:r>
          </a:p>
        </p:txBody>
      </p:sp>
      <p:sp>
        <p:nvSpPr>
          <p:cNvPr id="40" name="Oval 39"/>
          <p:cNvSpPr/>
          <p:nvPr/>
        </p:nvSpPr>
        <p:spPr>
          <a:xfrm>
            <a:off x="9692640" y="8129016"/>
            <a:ext cx="384048" cy="384048"/>
          </a:xfrm>
          <a:prstGeom prst="ellipse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1A1A1A"/>
                </a:solidFill>
                <a:latin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8092440"/>
            <a:ext cx="68122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 i="0">
                <a:solidFill>
                  <a:srgbClr val="FFF4E0"/>
                </a:solidFill>
                <a:latin typeface="Arial"/>
              </a:rPr>
              <a:t>Provable.</a:t>
            </a:r>
            <a:r>
              <a:rPr sz="1700" b="0" i="0">
                <a:solidFill>
                  <a:srgbClr val="F6E6C8"/>
                </a:solidFill>
                <a:latin typeface="Arial"/>
              </a:rPr>
              <a:t> Tamper-evident audit log, plus a postmortem report for every test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0841" y="585288"/>
            <a:ext cx="3741357" cy="796100"/>
            <a:chOff x="0" y="0"/>
            <a:chExt cx="4988475" cy="1061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6876" cy="1052371"/>
            </a:xfrm>
            <a:custGeom>
              <a:avLst/>
              <a:gdLst/>
              <a:ahLst/>
              <a:cxnLst/>
              <a:rect l="l" t="t" r="r" b="b"/>
              <a:pathLst>
                <a:path w="3966876" h="1052371">
                  <a:moveTo>
                    <a:pt x="0" y="0"/>
                  </a:moveTo>
                  <a:lnTo>
                    <a:pt x="3966876" y="0"/>
                  </a:lnTo>
                  <a:lnTo>
                    <a:pt x="3966876" y="1052371"/>
                  </a:lnTo>
                  <a:lnTo>
                    <a:pt x="0" y="1052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648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966876" y="0"/>
              <a:ext cx="1021600" cy="1061467"/>
            </a:xfrm>
            <a:custGeom>
              <a:avLst/>
              <a:gdLst/>
              <a:ahLst/>
              <a:cxnLst/>
              <a:rect l="l" t="t" r="r" b="b"/>
              <a:pathLst>
                <a:path w="1021600" h="1061467">
                  <a:moveTo>
                    <a:pt x="0" y="0"/>
                  </a:moveTo>
                  <a:lnTo>
                    <a:pt x="1021599" y="0"/>
                  </a:lnTo>
                  <a:lnTo>
                    <a:pt x="1021599" y="1061467"/>
                  </a:lnTo>
                  <a:lnTo>
                    <a:pt x="0" y="1061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361143" y="305533"/>
            <a:ext cx="17411055" cy="9643404"/>
            <a:chOff x="0" y="0"/>
            <a:chExt cx="23214740" cy="12857872"/>
          </a:xfrm>
        </p:grpSpPr>
        <p:sp>
          <p:nvSpPr>
            <p:cNvPr id="6" name="Freeform 6"/>
            <p:cNvSpPr/>
            <p:nvPr/>
          </p:nvSpPr>
          <p:spPr>
            <a:xfrm>
              <a:off x="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5400000"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1772834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54864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5486400" y="5486400"/>
                  </a:lnTo>
                  <a:lnTo>
                    <a:pt x="548640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194000" y="9800000"/>
            <a:ext cx="1900000" cy="339725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66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PAGE 5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914400" y="566928"/>
            <a:ext cx="127101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 spc="300">
                <a:solidFill>
                  <a:srgbClr val="1A1A1A"/>
                </a:solidFill>
                <a:latin typeface="Cinzel Bold"/>
                <a:ea typeface="Cinzel Bold"/>
                <a:cs typeface="Cinzel Bold"/>
              </a:rPr>
              <a:t>ARCHITECTURE &amp; TECH STACK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914400" y="1481328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100" b="0" i="1">
                <a:solidFill>
                  <a:srgbClr val="A3201F"/>
                </a:solidFill>
                <a:latin typeface="Arial"/>
              </a:rPr>
              <a:t>Extension, dashboard and AI agents all go through one FastAPI service.</a:t>
            </a:r>
          </a:p>
        </p:txBody>
      </p:sp>
      <p:sp>
        <p:nvSpPr>
          <p:cNvPr id="12" name="Client Browser extension"/>
          <p:cNvSpPr/>
          <p:nvPr/>
        </p:nvSpPr>
        <p:spPr>
          <a:xfrm>
            <a:off x="914400" y="2240280"/>
            <a:ext cx="3474720" cy="1097280"/>
          </a:xfrm>
          <a:prstGeom prst="rect">
            <a:avLst/>
          </a:prstGeom>
          <a:solidFill>
            <a:srgbClr val="F6E6C8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97280" y="23317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Browser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43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A4640"/>
                </a:solidFill>
                <a:latin typeface="Arial"/>
              </a:rPr>
              <a:t>Chrome Manifest V3: reviews any terms page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3337560"/>
            <a:ext cx="0" cy="4572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lient Dashboard"/>
          <p:cNvSpPr/>
          <p:nvPr/>
        </p:nvSpPr>
        <p:spPr>
          <a:xfrm>
            <a:off x="4663440" y="2240280"/>
            <a:ext cx="3474720" cy="1097280"/>
          </a:xfrm>
          <a:prstGeom prst="rect">
            <a:avLst/>
          </a:prstGeom>
          <a:solidFill>
            <a:srgbClr val="F6E6C8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46320" y="23317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743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A4640"/>
                </a:solidFill>
                <a:latin typeface="Arial"/>
              </a:rPr>
              <a:t>React: rules, websites, agents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3337560"/>
            <a:ext cx="0" cy="4572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lient AI agents"/>
          <p:cNvSpPr/>
          <p:nvPr/>
        </p:nvSpPr>
        <p:spPr>
          <a:xfrm>
            <a:off x="8412480" y="2240280"/>
            <a:ext cx="3474720" cy="1097280"/>
          </a:xfrm>
          <a:prstGeom prst="rect">
            <a:avLst/>
          </a:prstGeom>
          <a:solidFill>
            <a:srgbClr val="F6E6C8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95359" y="23317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27432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4A4640"/>
                </a:solidFill>
                <a:latin typeface="Arial"/>
              </a:rPr>
              <a:t>any framework, via the Guardian API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49840" y="3337560"/>
            <a:ext cx="0" cy="45720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PI container"/>
          <p:cNvSpPr/>
          <p:nvPr/>
        </p:nvSpPr>
        <p:spPr>
          <a:xfrm>
            <a:off x="914400" y="3794760"/>
            <a:ext cx="10972800" cy="4069080"/>
          </a:xfrm>
          <a:prstGeom prst="rect">
            <a:avLst/>
          </a:prstGeom>
          <a:solidFill>
            <a:srgbClr val="FFFCF5"/>
          </a:solidFill>
          <a:ln w="254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88720" y="393192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 spc="100">
                <a:solidFill>
                  <a:srgbClr val="A3201F"/>
                </a:solidFill>
                <a:latin typeface="Arial"/>
              </a:rPr>
              <a:t>KAVACH API  ·  Python FastAPI</a:t>
            </a:r>
          </a:p>
        </p:txBody>
      </p:sp>
      <p:sp>
        <p:nvSpPr>
          <p:cNvPr id="26" name="Module Court: 6 agents"/>
          <p:cNvSpPr/>
          <p:nvPr/>
        </p:nvSpPr>
        <p:spPr>
          <a:xfrm>
            <a:off x="1188720" y="4480560"/>
            <a:ext cx="3291840" cy="1463040"/>
          </a:xfrm>
          <a:prstGeom prst="rect">
            <a:avLst/>
          </a:prstGeom>
          <a:solidFill>
            <a:srgbClr val="FFF4E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53312" y="459028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Court: 6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9834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4A4640"/>
                </a:solidFill>
                <a:latin typeface="Arial"/>
              </a:rPr>
              <a:t>Sentinel · Prosecutor · Defense · Evidence Clerk · Judge · Auditor</a:t>
            </a:r>
          </a:p>
        </p:txBody>
      </p:sp>
      <p:sp>
        <p:nvSpPr>
          <p:cNvPr id="29" name="Module Guardian + rules"/>
          <p:cNvSpPr/>
          <p:nvPr/>
        </p:nvSpPr>
        <p:spPr>
          <a:xfrm>
            <a:off x="4709160" y="4480560"/>
            <a:ext cx="3291840" cy="1463040"/>
          </a:xfrm>
          <a:prstGeom prst="rect">
            <a:avLst/>
          </a:prstGeom>
          <a:solidFill>
            <a:srgbClr val="FFF4E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73752" y="459028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Guardian +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49834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4A4640"/>
                </a:solidFill>
                <a:latin typeface="Arial"/>
              </a:rPr>
              <a:t>Your rules and site groups, deny by default, password step-up</a:t>
            </a:r>
          </a:p>
        </p:txBody>
      </p:sp>
      <p:sp>
        <p:nvSpPr>
          <p:cNvPr id="32" name="Module Gateway"/>
          <p:cNvSpPr/>
          <p:nvPr/>
        </p:nvSpPr>
        <p:spPr>
          <a:xfrm>
            <a:off x="8229600" y="4480560"/>
            <a:ext cx="3291840" cy="1463040"/>
          </a:xfrm>
          <a:prstGeom prst="rect">
            <a:avLst/>
          </a:prstGeom>
          <a:solidFill>
            <a:srgbClr val="FFF4E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94192" y="459028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98348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4A4640"/>
                </a:solidFill>
                <a:latin typeface="Arial"/>
              </a:rPr>
              <a:t>One-time scoped tokens; fails closed if anything breaks</a:t>
            </a:r>
          </a:p>
        </p:txBody>
      </p:sp>
      <p:sp>
        <p:nvSpPr>
          <p:cNvPr id="35" name="Module Watchman"/>
          <p:cNvSpPr/>
          <p:nvPr/>
        </p:nvSpPr>
        <p:spPr>
          <a:xfrm>
            <a:off x="1188720" y="6126480"/>
            <a:ext cx="3291840" cy="1463040"/>
          </a:xfrm>
          <a:prstGeom prst="rect">
            <a:avLst/>
          </a:prstGeom>
          <a:solidFill>
            <a:srgbClr val="FFF4E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353312" y="623620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Watchman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6629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4A4640"/>
                </a:solidFill>
                <a:latin typeface="Arial"/>
              </a:rPr>
              <a:t>ETag / Last-Modified re-checks every 6 h; change classifier</a:t>
            </a:r>
          </a:p>
        </p:txBody>
      </p:sp>
      <p:sp>
        <p:nvSpPr>
          <p:cNvPr id="38" name="Module Policy fetcher"/>
          <p:cNvSpPr/>
          <p:nvPr/>
        </p:nvSpPr>
        <p:spPr>
          <a:xfrm>
            <a:off x="4709160" y="6126480"/>
            <a:ext cx="3291840" cy="1463040"/>
          </a:xfrm>
          <a:prstGeom prst="rect">
            <a:avLst/>
          </a:prstGeom>
          <a:solidFill>
            <a:srgbClr val="FFF4E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873752" y="623620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Policy fetcher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3752" y="6629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4A4640"/>
                </a:solidFill>
                <a:latin typeface="Arial"/>
              </a:rPr>
              <a:t>Respects robots.txt → headless Chromium → Open Terms Archive → Wayback</a:t>
            </a:r>
          </a:p>
        </p:txBody>
      </p:sp>
      <p:sp>
        <p:nvSpPr>
          <p:cNvPr id="41" name="Module Inbox · alerts · audit"/>
          <p:cNvSpPr/>
          <p:nvPr/>
        </p:nvSpPr>
        <p:spPr>
          <a:xfrm>
            <a:off x="8229600" y="6126480"/>
            <a:ext cx="3291840" cy="1463040"/>
          </a:xfrm>
          <a:prstGeom prst="rect">
            <a:avLst/>
          </a:prstGeom>
          <a:solidFill>
            <a:srgbClr val="FFF4E0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94192" y="623620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Inbox · alerts ·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6629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4A4640"/>
                </a:solidFill>
                <a:latin typeface="Arial"/>
              </a:rPr>
              <a:t>Policy-update emails, notifications, hash-chained audit log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584448" y="7863840"/>
            <a:ext cx="0" cy="41148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atabase"/>
          <p:cNvSpPr/>
          <p:nvPr/>
        </p:nvSpPr>
        <p:spPr>
          <a:xfrm>
            <a:off x="914400" y="8275320"/>
            <a:ext cx="5349240" cy="960120"/>
          </a:xfrm>
          <a:prstGeom prst="rect">
            <a:avLst/>
          </a:prstGeom>
          <a:solidFill>
            <a:srgbClr val="F6E6C8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97280" y="8357616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Database: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SQLite in development · PostgreSQL in production · Alembic migrations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08008" y="7863840"/>
            <a:ext cx="0" cy="411480"/>
          </a:xfrm>
          <a:prstGeom prst="line">
            <a:avLst/>
          </a:prstGeom>
          <a:ln w="2222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utside world"/>
          <p:cNvSpPr/>
          <p:nvPr/>
        </p:nvSpPr>
        <p:spPr>
          <a:xfrm>
            <a:off x="6537960" y="8275320"/>
            <a:ext cx="5349240" cy="960120"/>
          </a:xfrm>
          <a:prstGeom prst="rect">
            <a:avLst/>
          </a:prstGeom>
          <a:solidFill>
            <a:srgbClr val="F6E6C8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720840" y="8357616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Outside world: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Websites’ policies · company emails · data destinations</a:t>
            </a:r>
          </a:p>
        </p:txBody>
      </p:sp>
      <p:sp>
        <p:nvSpPr>
          <p:cNvPr id="50" name="Stack panel"/>
          <p:cNvSpPr/>
          <p:nvPr/>
        </p:nvSpPr>
        <p:spPr>
          <a:xfrm>
            <a:off x="12344400" y="2240280"/>
            <a:ext cx="5029200" cy="699516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2664440" y="24688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1" i="0" spc="200">
                <a:solidFill>
                  <a:srgbClr val="FFF4E0"/>
                </a:solidFill>
                <a:latin typeface="Arial"/>
              </a:rPr>
              <a:t>TECH STACK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664440" y="30632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 i="0" spc="150">
                <a:solidFill>
                  <a:srgbClr val="F6E6C8"/>
                </a:solidFill>
                <a:latin typeface="Arial"/>
              </a:rPr>
              <a:t>FRONTEND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664440" y="333756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4E0"/>
                </a:solidFill>
                <a:latin typeface="Arial"/>
              </a:rPr>
              <a:t>React 18 · Vite 5 · Tailwind CSS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64440" y="39319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 i="0" spc="150">
                <a:solidFill>
                  <a:srgbClr val="F6E6C8"/>
                </a:solidFill>
                <a:latin typeface="Arial"/>
              </a:rPr>
              <a:t>BACKEND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664440" y="420624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4E0"/>
                </a:solidFill>
                <a:latin typeface="Arial"/>
              </a:rPr>
              <a:t>Python 3.13 · FastAPI · SQLAlchemy 2 · Pydantic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664440" y="480060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 i="0" spc="150">
                <a:solidFill>
                  <a:srgbClr val="F6E6C8"/>
                </a:solidFill>
                <a:latin typeface="Arial"/>
              </a:rPr>
              <a:t>AGENTS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64440" y="507492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4E0"/>
                </a:solidFill>
                <a:latin typeface="Arial"/>
              </a:rPr>
              <a:t>Offline and explainable; LLM-ready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664440" y="566927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 i="0" spc="150">
                <a:solidFill>
                  <a:srgbClr val="F6E6C8"/>
                </a:solidFill>
                <a:latin typeface="Arial"/>
              </a:rPr>
              <a:t>FETCHING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64440" y="5943599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4E0"/>
                </a:solidFill>
                <a:latin typeface="Arial"/>
              </a:rPr>
              <a:t>httpx · Playwright (headless Chromium)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64440" y="65379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 i="0" spc="150">
                <a:solidFill>
                  <a:srgbClr val="F6E6C8"/>
                </a:solidFill>
                <a:latin typeface="Arial"/>
              </a:rPr>
              <a:t>SECURITY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664440" y="681228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4E0"/>
                </a:solidFill>
                <a:latin typeface="Arial"/>
              </a:rPr>
              <a:t>CSRF · step-up auth · SSRF guard · tokens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664440" y="74066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 i="0" spc="150">
                <a:solidFill>
                  <a:srgbClr val="F6E6C8"/>
                </a:solidFill>
                <a:latin typeface="Arial"/>
              </a:rPr>
              <a:t>DEPLOY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664440" y="768096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4E0"/>
                </a:solidFill>
                <a:latin typeface="Arial"/>
              </a:rPr>
              <a:t>Render: web app + 6-hourly cron + PostgreSQL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64440" y="8275319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50" b="1" i="0" spc="150">
                <a:solidFill>
                  <a:srgbClr val="F6E6C8"/>
                </a:solidFill>
                <a:latin typeface="Arial"/>
              </a:rPr>
              <a:t>QUALITY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664440" y="8549640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FFF4E0"/>
                </a:solidFill>
                <a:latin typeface="Arial"/>
              </a:rPr>
              <a:t>182 automated tests · Red Team lab of 36 attacks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0841" y="585288"/>
            <a:ext cx="3741357" cy="796100"/>
            <a:chOff x="0" y="0"/>
            <a:chExt cx="4988475" cy="1061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6876" cy="1052371"/>
            </a:xfrm>
            <a:custGeom>
              <a:avLst/>
              <a:gdLst/>
              <a:ahLst/>
              <a:cxnLst/>
              <a:rect l="l" t="t" r="r" b="b"/>
              <a:pathLst>
                <a:path w="3966876" h="1052371">
                  <a:moveTo>
                    <a:pt x="0" y="0"/>
                  </a:moveTo>
                  <a:lnTo>
                    <a:pt x="3966876" y="0"/>
                  </a:lnTo>
                  <a:lnTo>
                    <a:pt x="3966876" y="1052371"/>
                  </a:lnTo>
                  <a:lnTo>
                    <a:pt x="0" y="1052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648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966876" y="0"/>
              <a:ext cx="1021600" cy="1061467"/>
            </a:xfrm>
            <a:custGeom>
              <a:avLst/>
              <a:gdLst/>
              <a:ahLst/>
              <a:cxnLst/>
              <a:rect l="l" t="t" r="r" b="b"/>
              <a:pathLst>
                <a:path w="1021600" h="1061467">
                  <a:moveTo>
                    <a:pt x="0" y="0"/>
                  </a:moveTo>
                  <a:lnTo>
                    <a:pt x="1021599" y="0"/>
                  </a:lnTo>
                  <a:lnTo>
                    <a:pt x="1021599" y="1061467"/>
                  </a:lnTo>
                  <a:lnTo>
                    <a:pt x="0" y="1061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361143" y="305533"/>
            <a:ext cx="17411055" cy="9643404"/>
            <a:chOff x="0" y="0"/>
            <a:chExt cx="23214740" cy="12857872"/>
          </a:xfrm>
        </p:grpSpPr>
        <p:sp>
          <p:nvSpPr>
            <p:cNvPr id="6" name="Freeform 6"/>
            <p:cNvSpPr/>
            <p:nvPr/>
          </p:nvSpPr>
          <p:spPr>
            <a:xfrm>
              <a:off x="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5400000">
              <a:off x="0" y="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flipH="1">
              <a:off x="17728340" y="7371472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5486400" y="0"/>
                  </a:moveTo>
                  <a:lnTo>
                    <a:pt x="0" y="0"/>
                  </a:lnTo>
                  <a:lnTo>
                    <a:pt x="0" y="5486400"/>
                  </a:lnTo>
                  <a:lnTo>
                    <a:pt x="5486400" y="5486400"/>
                  </a:lnTo>
                  <a:lnTo>
                    <a:pt x="548640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194000" y="9800000"/>
            <a:ext cx="1900000" cy="339725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66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PAGE 6</a:t>
            </a:r>
          </a:p>
        </p:txBody>
      </p:sp>
      <p:sp>
        <p:nvSpPr>
          <p:cNvPr id="10" name="Title"/>
          <p:cNvSpPr txBox="1"/>
          <p:nvPr/>
        </p:nvSpPr>
        <p:spPr>
          <a:xfrm>
            <a:off x="914400" y="566928"/>
            <a:ext cx="127101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 spc="300">
                <a:solidFill>
                  <a:srgbClr val="1A1A1A"/>
                </a:solidFill>
                <a:latin typeface="Cinzel Bold"/>
                <a:ea typeface="Cinzel Bold"/>
                <a:cs typeface="Cinzel Bold"/>
              </a:rPr>
              <a:t>BUSINESS MODEL &amp; REVENUE PLAN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914400" y="1481328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100" b="0" i="1">
                <a:solidFill>
                  <a:srgbClr val="A3201F"/>
                </a:solidFill>
                <a:latin typeface="Arial"/>
              </a:rPr>
              <a:t>Free for people. Paid API and compliance tools for companies that build or deploy AI agents.</a:t>
            </a:r>
          </a:p>
        </p:txBody>
      </p:sp>
      <p:sp>
        <p:nvSpPr>
          <p:cNvPr id="12" name="Tier FREE"/>
          <p:cNvSpPr/>
          <p:nvPr/>
        </p:nvSpPr>
        <p:spPr>
          <a:xfrm>
            <a:off x="914400" y="2240280"/>
            <a:ext cx="3886200" cy="434340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468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 spc="150">
                <a:solidFill>
                  <a:srgbClr val="A3201F"/>
                </a:solidFill>
                <a:latin typeface="Arial"/>
              </a:rPr>
              <a:t>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4A4640"/>
                </a:solidFill>
                <a:latin typeface="Arial"/>
              </a:rPr>
              <a:t>Individuals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A1A1A"/>
                </a:solidFill>
                <a:latin typeface="Arial"/>
              </a:rPr>
              <a:t>₹0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9768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Browser extension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Website reviews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General rules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Notifications</a:t>
            </a:r>
          </a:p>
        </p:txBody>
      </p:sp>
      <p:sp>
        <p:nvSpPr>
          <p:cNvPr id="17" name="Tier PRO"/>
          <p:cNvSpPr/>
          <p:nvPr/>
        </p:nvSpPr>
        <p:spPr>
          <a:xfrm>
            <a:off x="5102352" y="2240280"/>
            <a:ext cx="3886200" cy="434340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392" y="2468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 spc="150">
                <a:solidFill>
                  <a:srgbClr val="A3201F"/>
                </a:solidFill>
                <a:latin typeface="Arial"/>
              </a:rP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4A4640"/>
                </a:solidFill>
                <a:latin typeface="Arial"/>
              </a:rPr>
              <a:t>Power users &amp; families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2" y="3429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A1A1A"/>
                </a:solidFill>
                <a:latin typeface="Arial"/>
              </a:rPr>
              <a:t>₹149 /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429768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Unlimited tracked sites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Rule groups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Email change alerts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Up to 5 family members</a:t>
            </a:r>
          </a:p>
        </p:txBody>
      </p:sp>
      <p:sp>
        <p:nvSpPr>
          <p:cNvPr id="22" name="Tier GUARDIAN API"/>
          <p:cNvSpPr/>
          <p:nvPr/>
        </p:nvSpPr>
        <p:spPr>
          <a:xfrm>
            <a:off x="9290304" y="2240280"/>
            <a:ext cx="3886200" cy="434340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10344" y="2468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 spc="150">
                <a:solidFill>
                  <a:srgbClr val="FFF4E0"/>
                </a:solidFill>
                <a:latin typeface="Arial"/>
              </a:rPr>
              <a:t>GUARDIAN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0344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F6E6C8"/>
                </a:solidFill>
                <a:latin typeface="Arial"/>
              </a:rPr>
              <a:t>AI-agent builders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4" y="3429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4E0"/>
                </a:solidFill>
                <a:latin typeface="Arial"/>
              </a:rPr>
              <a:t>Pay per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429768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FF4E0"/>
                </a:solidFill>
                <a:latin typeface="Arial"/>
              </a:rPr>
              <a:t>•  10,000 checks / month free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FF4E0"/>
                </a:solidFill>
                <a:latin typeface="Arial"/>
              </a:rPr>
              <a:t>•  SDK + one-time tokens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FF4E0"/>
                </a:solidFill>
                <a:latin typeface="Arial"/>
              </a:rPr>
              <a:t>•  Gateway enforcement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FF4E0"/>
                </a:solidFill>
                <a:latin typeface="Arial"/>
              </a:rPr>
              <a:t>•  Audit export</a:t>
            </a:r>
          </a:p>
        </p:txBody>
      </p:sp>
      <p:sp>
        <p:nvSpPr>
          <p:cNvPr id="27" name="Tier ENTERPRISE"/>
          <p:cNvSpPr/>
          <p:nvPr/>
        </p:nvSpPr>
        <p:spPr>
          <a:xfrm>
            <a:off x="13478256" y="2240280"/>
            <a:ext cx="3886200" cy="434340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798296" y="24688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 spc="150">
                <a:solidFill>
                  <a:srgbClr val="A3201F"/>
                </a:solidFill>
                <a:latin typeface="Arial"/>
              </a:rP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98296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4A4640"/>
                </a:solidFill>
                <a:latin typeface="Arial"/>
              </a:rPr>
              <a:t>Regulated companies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98296" y="3429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1A1A1A"/>
                </a:solidFill>
                <a:latin typeface="Arial"/>
              </a:rPr>
              <a:t>From ₹5 lakh /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98296" y="429768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DPDP &amp; GDPR consent records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Audit evidence for regulators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SSO, admin roles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 Private deployment</a:t>
            </a:r>
          </a:p>
        </p:txBody>
      </p:sp>
      <p:sp>
        <p:nvSpPr>
          <p:cNvPr id="32" name="Revenue streams"/>
          <p:cNvSpPr/>
          <p:nvPr/>
        </p:nvSpPr>
        <p:spPr>
          <a:xfrm>
            <a:off x="914400" y="6858000"/>
            <a:ext cx="5303520" cy="2377440"/>
          </a:xfrm>
          <a:prstGeom prst="rect">
            <a:avLst/>
          </a:prstGeom>
          <a:solidFill>
            <a:srgbClr val="F6E6C8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88720" y="70408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 spc="150">
                <a:solidFill>
                  <a:srgbClr val="A3201F"/>
                </a:solidFill>
                <a:latin typeface="Arial"/>
              </a:rPr>
              <a:t>REVENUE STREAMS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7498079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50" b="0" i="0">
                <a:solidFill>
                  <a:srgbClr val="1A1A1A"/>
                </a:solidFill>
                <a:latin typeface="Arial"/>
              </a:rPr>
              <a:t>Pro subscriptions · API usage · enterprise licences · integrations with registered consent managers</a:t>
            </a:r>
          </a:p>
        </p:txBody>
      </p:sp>
      <p:sp>
        <p:nvSpPr>
          <p:cNvPr id="35" name="Cheap to run"/>
          <p:cNvSpPr/>
          <p:nvPr/>
        </p:nvSpPr>
        <p:spPr>
          <a:xfrm>
            <a:off x="6492240" y="6858000"/>
            <a:ext cx="5303520" cy="2377440"/>
          </a:xfrm>
          <a:prstGeom prst="rect">
            <a:avLst/>
          </a:prstGeom>
          <a:solidFill>
            <a:srgbClr val="F6E6C8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766559" y="70408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 spc="150">
                <a:solidFill>
                  <a:srgbClr val="A3201F"/>
                </a:solidFill>
                <a:latin typeface="Arial"/>
              </a:rPr>
              <a:t>CHEAP TO 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7498079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50" b="0" i="0">
                <a:solidFill>
                  <a:srgbClr val="1A1A1A"/>
                </a:solidFill>
                <a:latin typeface="Arial"/>
              </a:rPr>
              <a:t>The six agents run offline, so a review costs almost nothing and there is no AI bill per check: the free tier pays for itself in reach.</a:t>
            </a:r>
          </a:p>
        </p:txBody>
      </p:sp>
      <p:sp>
        <p:nvSpPr>
          <p:cNvPr id="38" name="Go-to-market"/>
          <p:cNvSpPr/>
          <p:nvPr/>
        </p:nvSpPr>
        <p:spPr>
          <a:xfrm>
            <a:off x="12070080" y="6858000"/>
            <a:ext cx="5303520" cy="2377440"/>
          </a:xfrm>
          <a:prstGeom prst="rect">
            <a:avLst/>
          </a:prstGeom>
          <a:solidFill>
            <a:srgbClr val="F6E6C8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344400" y="704088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 spc="150">
                <a:solidFill>
                  <a:srgbClr val="A3201F"/>
                </a:solidFill>
                <a:latin typeface="Arial"/>
              </a:rPr>
              <a:t>GO-TO-MARKET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0" y="7498079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50" b="0" i="0">
                <a:solidFill>
                  <a:srgbClr val="1A1A1A"/>
                </a:solidFill>
                <a:latin typeface="Arial"/>
              </a:rPr>
              <a:t>The free extension spreads user to user → developers adopt the Guardian API → compliance teams buy enterprise licences.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0841" y="585288"/>
            <a:ext cx="3741357" cy="796100"/>
            <a:chOff x="0" y="0"/>
            <a:chExt cx="4988475" cy="1061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6876" cy="1052371"/>
            </a:xfrm>
            <a:custGeom>
              <a:avLst/>
              <a:gdLst/>
              <a:ahLst/>
              <a:cxnLst/>
              <a:rect l="l" t="t" r="r" b="b"/>
              <a:pathLst>
                <a:path w="3966876" h="1052371">
                  <a:moveTo>
                    <a:pt x="0" y="0"/>
                  </a:moveTo>
                  <a:lnTo>
                    <a:pt x="3966876" y="0"/>
                  </a:lnTo>
                  <a:lnTo>
                    <a:pt x="3966876" y="1052371"/>
                  </a:lnTo>
                  <a:lnTo>
                    <a:pt x="0" y="1052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648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966876" y="0"/>
              <a:ext cx="1021600" cy="1061467"/>
            </a:xfrm>
            <a:custGeom>
              <a:avLst/>
              <a:gdLst/>
              <a:ahLst/>
              <a:cxnLst/>
              <a:rect l="l" t="t" r="r" b="b"/>
              <a:pathLst>
                <a:path w="1021600" h="1061467">
                  <a:moveTo>
                    <a:pt x="0" y="0"/>
                  </a:moveTo>
                  <a:lnTo>
                    <a:pt x="1021599" y="0"/>
                  </a:lnTo>
                  <a:lnTo>
                    <a:pt x="1021599" y="1061467"/>
                  </a:lnTo>
                  <a:lnTo>
                    <a:pt x="0" y="1061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361143" y="583413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5400000">
            <a:off x="361143" y="30553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 flipH="1">
            <a:off x="13657398" y="583413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8194000" y="9800000"/>
            <a:ext cx="1900000" cy="339725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66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PAGE 7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914400" y="566928"/>
            <a:ext cx="127101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 spc="300">
                <a:solidFill>
                  <a:srgbClr val="1A1A1A"/>
                </a:solidFill>
                <a:latin typeface="Cinzel Bold"/>
                <a:ea typeface="Cinzel Bold"/>
                <a:cs typeface="Cinzel Bold"/>
              </a:rPr>
              <a:t>MARKET OPPORTUNITY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914400" y="1481328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100" b="0" i="1">
                <a:solidFill>
                  <a:srgbClr val="A3201F"/>
                </a:solidFill>
                <a:latin typeface="Arial"/>
              </a:rPr>
              <a:t>AI agents are growing fast, and Indian law now requires provable consent.</a:t>
            </a:r>
          </a:p>
        </p:txBody>
      </p:sp>
      <p:sp>
        <p:nvSpPr>
          <p:cNvPr id="11" name="Stat 1"/>
          <p:cNvSpPr/>
          <p:nvPr/>
        </p:nvSpPr>
        <p:spPr>
          <a:xfrm>
            <a:off x="914400" y="2240280"/>
            <a:ext cx="7223760" cy="214884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A3201F"/>
                </a:solidFill>
                <a:latin typeface="Cinzel Bold"/>
                <a:ea typeface="Cinzel Bold"/>
                <a:cs typeface="Cinzel Bold"/>
              </a:rPr>
              <a:t>$52.6B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227832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0" i="0">
                <a:solidFill>
                  <a:srgbClr val="1A1A1A"/>
                </a:solidFill>
                <a:latin typeface="Arial"/>
              </a:rPr>
              <a:t>AI agents market by 2030, up from $7.8B in 2025: about 46% growth a 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00507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4A4640"/>
                </a:solidFill>
                <a:latin typeface="Arial"/>
              </a:rPr>
              <a:t>MarketsandMarkets, AI Agents Market report (2025)</a:t>
            </a:r>
          </a:p>
        </p:txBody>
      </p:sp>
      <p:sp>
        <p:nvSpPr>
          <p:cNvPr id="15" name="Stat 2"/>
          <p:cNvSpPr/>
          <p:nvPr/>
        </p:nvSpPr>
        <p:spPr>
          <a:xfrm>
            <a:off x="914400" y="4617720"/>
            <a:ext cx="7223760" cy="214884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34440" y="47823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A3201F"/>
                </a:solidFill>
                <a:latin typeface="Cinzel Bold"/>
                <a:ea typeface="Cinzel Bold"/>
                <a:cs typeface="Cinzel Bold"/>
              </a:rPr>
              <a:t>$1.05B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605272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0" i="0">
                <a:solidFill>
                  <a:srgbClr val="1A1A1A"/>
                </a:solidFill>
                <a:latin typeface="Arial"/>
              </a:rPr>
              <a:t>Consent management market in 2025, growing about 13% a year.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638251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4A4640"/>
                </a:solidFill>
                <a:latin typeface="Arial"/>
              </a:rPr>
              <a:t>Grand View Research, Consent Management Market report</a:t>
            </a:r>
          </a:p>
        </p:txBody>
      </p:sp>
      <p:sp>
        <p:nvSpPr>
          <p:cNvPr id="19" name="Stat 3"/>
          <p:cNvSpPr/>
          <p:nvPr/>
        </p:nvSpPr>
        <p:spPr>
          <a:xfrm>
            <a:off x="914400" y="6995160"/>
            <a:ext cx="7223760" cy="214884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34440" y="715975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A3201F"/>
                </a:solidFill>
                <a:latin typeface="Cinzel Bold"/>
                <a:ea typeface="Cinzel Bold"/>
                <a:cs typeface="Cinzel Bold"/>
              </a:rPr>
              <a:t>13 Nov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7982712"/>
            <a:ext cx="65836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0" i="0">
                <a:solidFill>
                  <a:srgbClr val="1A1A1A"/>
                </a:solidFill>
                <a:latin typeface="Arial"/>
              </a:rPr>
              <a:t>India’s DPDP Rules: consent managers register from this date; full duties for businesses from May 2027.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875995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4A4640"/>
                </a:solidFill>
                <a:latin typeface="Arial"/>
              </a:rPr>
              <a:t>DPDP Rules 2025, notified Nov 2025</a:t>
            </a:r>
          </a:p>
        </p:txBody>
      </p:sp>
      <p:sp>
        <p:nvSpPr>
          <p:cNvPr id="23" name="Revenue panel"/>
          <p:cNvSpPr/>
          <p:nvPr/>
        </p:nvSpPr>
        <p:spPr>
          <a:xfrm>
            <a:off x="8549640" y="2240280"/>
            <a:ext cx="8823960" cy="699516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15400" y="2423160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00" b="1" i="0" spc="150">
                <a:solidFill>
                  <a:srgbClr val="A3201F"/>
                </a:solidFill>
                <a:latin typeface="Arial"/>
              </a:rPr>
              <a:t>REVENUE PLAN · TARGETS (₹ CRORE)</a:t>
            </a:r>
          </a:p>
        </p:txBody>
      </p:sp>
      <p:graphicFrame>
        <p:nvGraphicFramePr>
          <p:cNvPr id="25" name="Revenue chart"/>
          <p:cNvGraphicFramePr>
            <a:graphicFrameLocks noGrp="1"/>
          </p:cNvGraphicFramePr>
          <p:nvPr/>
        </p:nvGraphicFramePr>
        <p:xfrm>
          <a:off x="8823960" y="2880360"/>
          <a:ext cx="8275320" cy="42062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915400" y="7223760"/>
            <a:ext cx="8138160" cy="192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Year 1: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1,000 Pro users + 5 API pilots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Year 2: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10,000 Pro users + 30 business customers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Year 3: </a:t>
            </a:r>
            <a:r>
              <a:rPr sz="1700" b="0" i="0">
                <a:solidFill>
                  <a:srgbClr val="1A1A1A"/>
                </a:solidFill>
                <a:latin typeface="Arial"/>
              </a:rPr>
              <a:t>40,000 Pro users + 100 business customers</a:t>
            </a:r>
          </a:p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4A4640"/>
                </a:solidFill>
                <a:latin typeface="Arial"/>
              </a:rPr>
              <a:t>Assumes Pro at ₹149 / month and ₹3–5 lakh a year per business customer.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0841" y="585288"/>
            <a:ext cx="3741357" cy="796100"/>
            <a:chOff x="0" y="0"/>
            <a:chExt cx="4988475" cy="1061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6876" cy="1052371"/>
            </a:xfrm>
            <a:custGeom>
              <a:avLst/>
              <a:gdLst/>
              <a:ahLst/>
              <a:cxnLst/>
              <a:rect l="l" t="t" r="r" b="b"/>
              <a:pathLst>
                <a:path w="3966876" h="1052371">
                  <a:moveTo>
                    <a:pt x="0" y="0"/>
                  </a:moveTo>
                  <a:lnTo>
                    <a:pt x="3966876" y="0"/>
                  </a:lnTo>
                  <a:lnTo>
                    <a:pt x="3966876" y="1052371"/>
                  </a:lnTo>
                  <a:lnTo>
                    <a:pt x="0" y="1052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5648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966876" y="0"/>
              <a:ext cx="1021600" cy="1061467"/>
            </a:xfrm>
            <a:custGeom>
              <a:avLst/>
              <a:gdLst/>
              <a:ahLst/>
              <a:cxnLst/>
              <a:rect l="l" t="t" r="r" b="b"/>
              <a:pathLst>
                <a:path w="1021600" h="1061467">
                  <a:moveTo>
                    <a:pt x="0" y="0"/>
                  </a:moveTo>
                  <a:lnTo>
                    <a:pt x="1021599" y="0"/>
                  </a:lnTo>
                  <a:lnTo>
                    <a:pt x="1021599" y="1061467"/>
                  </a:lnTo>
                  <a:lnTo>
                    <a:pt x="0" y="1061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361143" y="583413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6" name="Freeform 6"/>
          <p:cNvSpPr/>
          <p:nvPr/>
        </p:nvSpPr>
        <p:spPr>
          <a:xfrm rot="5400000">
            <a:off x="361143" y="30553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7" name="Freeform 7"/>
          <p:cNvSpPr/>
          <p:nvPr/>
        </p:nvSpPr>
        <p:spPr>
          <a:xfrm flipH="1">
            <a:off x="13657398" y="583413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8" name="TextBox 8"/>
          <p:cNvSpPr txBox="1"/>
          <p:nvPr/>
        </p:nvSpPr>
        <p:spPr>
          <a:xfrm>
            <a:off x="8194000" y="9800000"/>
            <a:ext cx="1900000" cy="339725"/>
          </a:xfrm>
          <a:prstGeom prst="rect">
            <a:avLst/>
          </a:prstGeom>
        </p:spPr>
        <p:txBody>
          <a:bodyPr lIns="0" tIns="0" rIns="0" bIns="0" rtlCol="0" anchor="t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66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PAGE 8</a:t>
            </a:r>
          </a:p>
        </p:txBody>
      </p:sp>
      <p:sp>
        <p:nvSpPr>
          <p:cNvPr id="9" name="Title"/>
          <p:cNvSpPr txBox="1"/>
          <p:nvPr/>
        </p:nvSpPr>
        <p:spPr>
          <a:xfrm>
            <a:off x="914400" y="566928"/>
            <a:ext cx="127101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 spc="300">
                <a:solidFill>
                  <a:srgbClr val="1A1A1A"/>
                </a:solidFill>
                <a:latin typeface="Cinzel Bold"/>
                <a:ea typeface="Cinzel Bold"/>
                <a:cs typeface="Cinzel Bold"/>
              </a:rPr>
              <a:t>IMPACT &amp; FUTURE ROADMAP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914400" y="1481328"/>
            <a:ext cx="127101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100" b="0" i="1">
                <a:solidFill>
                  <a:srgbClr val="A3201F"/>
                </a:solidFill>
                <a:latin typeface="Arial"/>
              </a:rPr>
              <a:t>Built, tested and measured today, with a clear path to scale.</a:t>
            </a:r>
          </a:p>
        </p:txBody>
      </p:sp>
      <p:sp>
        <p:nvSpPr>
          <p:cNvPr id="11" name="Impact 1"/>
          <p:cNvSpPr/>
          <p:nvPr/>
        </p:nvSpPr>
        <p:spPr>
          <a:xfrm>
            <a:off x="914400" y="2240280"/>
            <a:ext cx="3886200" cy="192024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88720" y="237744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A3201F"/>
                </a:solidFill>
                <a:latin typeface="Cinzel Bold"/>
                <a:ea typeface="Cinzel Bold"/>
                <a:cs typeface="Cinzel Bold"/>
              </a:rPr>
              <a:t>182 / 182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15468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automated tests pass, each run kept with a report</a:t>
            </a:r>
          </a:p>
        </p:txBody>
      </p:sp>
      <p:sp>
        <p:nvSpPr>
          <p:cNvPr id="14" name="Impact 2"/>
          <p:cNvSpPr/>
          <p:nvPr/>
        </p:nvSpPr>
        <p:spPr>
          <a:xfrm>
            <a:off x="5102352" y="2240280"/>
            <a:ext cx="3886200" cy="1920240"/>
          </a:xfrm>
          <a:prstGeom prst="rect">
            <a:avLst/>
          </a:prstGeom>
          <a:solidFill>
            <a:srgbClr val="1A1A1A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76672" y="237744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4E0"/>
                </a:solidFill>
                <a:latin typeface="Cinzel Bold"/>
                <a:ea typeface="Cinzel Bold"/>
                <a:cs typeface="Cinzel Bold"/>
              </a:rPr>
              <a:t>34 /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315468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FFF4E0"/>
                </a:solidFill>
                <a:latin typeface="Arial"/>
              </a:rPr>
              <a:t>Red Team attacks held; none got data out</a:t>
            </a:r>
          </a:p>
        </p:txBody>
      </p:sp>
      <p:sp>
        <p:nvSpPr>
          <p:cNvPr id="17" name="Impact 3"/>
          <p:cNvSpPr/>
          <p:nvPr/>
        </p:nvSpPr>
        <p:spPr>
          <a:xfrm>
            <a:off x="9290304" y="2240280"/>
            <a:ext cx="3886200" cy="192024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64624" y="237744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A3201F"/>
                </a:solidFill>
                <a:latin typeface="Cinzel Bold"/>
                <a:ea typeface="Cinzel Bold"/>
                <a:cs typeface="Cinzel Bold"/>
              </a:rP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315468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real policies (Netflix, Google, Uber…) calibrate the scoring</a:t>
            </a:r>
          </a:p>
        </p:txBody>
      </p:sp>
      <p:sp>
        <p:nvSpPr>
          <p:cNvPr id="20" name="Impact 4"/>
          <p:cNvSpPr/>
          <p:nvPr/>
        </p:nvSpPr>
        <p:spPr>
          <a:xfrm>
            <a:off x="13478256" y="2240280"/>
            <a:ext cx="3886200" cy="1920240"/>
          </a:xfrm>
          <a:prstGeom prst="rect">
            <a:avLst/>
          </a:prstGeom>
          <a:solidFill>
            <a:srgbClr val="FFFCF5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752576" y="2377440"/>
            <a:ext cx="338328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A3201F"/>
                </a:solidFill>
                <a:latin typeface="Cinzel Bold"/>
                <a:ea typeface="Cinzel Bold"/>
                <a:cs typeface="Cinzel Bold"/>
              </a:rPr>
              <a:t>19+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52576" y="3154680"/>
            <a:ext cx="338328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popular services ready to review; any other site by 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50" b="1" i="0">
                <a:solidFill>
                  <a:srgbClr val="1A1A1A"/>
                </a:solidFill>
                <a:latin typeface="Arial"/>
              </a:rPr>
              <a:t>For people: </a:t>
            </a:r>
            <a:r>
              <a:rPr sz="1650" b="0" i="0">
                <a:solidFill>
                  <a:srgbClr val="1A1A1A"/>
                </a:solidFill>
                <a:latin typeface="Arial"/>
              </a:rPr>
              <a:t>informed, current consent.   </a:t>
            </a:r>
            <a:r>
              <a:rPr sz="1650" b="1" i="0">
                <a:solidFill>
                  <a:srgbClr val="1A1A1A"/>
                </a:solidFill>
                <a:latin typeface="Arial"/>
              </a:rPr>
              <a:t>For companies: </a:t>
            </a:r>
            <a:r>
              <a:rPr sz="1650" b="0" i="0">
                <a:solidFill>
                  <a:srgbClr val="1A1A1A"/>
                </a:solidFill>
                <a:latin typeface="Arial"/>
              </a:rPr>
              <a:t>proof of consent for DPDP and GDPR.   </a:t>
            </a:r>
            <a:r>
              <a:rPr sz="1650" b="1" i="0">
                <a:solidFill>
                  <a:srgbClr val="1A1A1A"/>
                </a:solidFill>
                <a:latin typeface="Arial"/>
              </a:rPr>
              <a:t>For AI: </a:t>
            </a:r>
            <a:r>
              <a:rPr sz="1650" b="0" i="0">
                <a:solidFill>
                  <a:srgbClr val="1A1A1A"/>
                </a:solidFill>
                <a:latin typeface="Arial"/>
              </a:rPr>
              <a:t>agents that can’t be tricked into oversharing.</a:t>
            </a:r>
          </a:p>
        </p:txBody>
      </p:sp>
      <p:cxnSp>
        <p:nvCxnSpPr>
          <p:cNvPr id="24" name="Timeline"/>
          <p:cNvCxnSpPr/>
          <p:nvPr/>
        </p:nvCxnSpPr>
        <p:spPr>
          <a:xfrm>
            <a:off x="1188720" y="5806440"/>
            <a:ext cx="1591056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A3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93207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spc="150">
                <a:solidFill>
                  <a:srgbClr val="A3201F"/>
                </a:solidFill>
                <a:latin typeface="Arial"/>
              </a:rPr>
              <a:t>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217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Working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720840"/>
            <a:ext cx="388620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4A4640"/>
                </a:solidFill>
                <a:latin typeface="Arial"/>
              </a:rPr>
              <a:t>Extension, six-agent court, Guardian and gateway, Watchman, rule groups, Red Team lab.</a:t>
            </a:r>
          </a:p>
        </p:txBody>
      </p:sp>
      <p:sp>
        <p:nvSpPr>
          <p:cNvPr id="29" name="Oval 28"/>
          <p:cNvSpPr/>
          <p:nvPr/>
        </p:nvSpPr>
        <p:spPr>
          <a:xfrm>
            <a:off x="5102352" y="557784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5093207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spc="150">
                <a:solidFill>
                  <a:srgbClr val="A3201F"/>
                </a:solidFill>
                <a:latin typeface="Arial"/>
              </a:rPr>
              <a:t>0–3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6217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Smarter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6720840"/>
            <a:ext cx="388620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4A4640"/>
                </a:solidFill>
                <a:latin typeface="Arial"/>
              </a:rPr>
              <a:t>AI-assisted page and change checks to fix the 2 known misses; Hindi and regional languages.</a:t>
            </a:r>
          </a:p>
        </p:txBody>
      </p:sp>
      <p:sp>
        <p:nvSpPr>
          <p:cNvPr id="33" name="Oval 32"/>
          <p:cNvSpPr/>
          <p:nvPr/>
        </p:nvSpPr>
        <p:spPr>
          <a:xfrm>
            <a:off x="9290304" y="557784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4" y="5093207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spc="150">
                <a:solidFill>
                  <a:srgbClr val="A3201F"/>
                </a:solidFill>
                <a:latin typeface="Arial"/>
              </a:rPr>
              <a:t>3–6 MONTHS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6217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For developers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6720840"/>
            <a:ext cx="388620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4A4640"/>
                </a:solidFill>
                <a:latin typeface="Arial"/>
              </a:rPr>
              <a:t>Guardian SDK for agent frameworks (MCP, LangChain); Chrome Web Store launch; 3 company pilots.</a:t>
            </a:r>
          </a:p>
        </p:txBody>
      </p:sp>
      <p:sp>
        <p:nvSpPr>
          <p:cNvPr id="37" name="Oval 36"/>
          <p:cNvSpPr/>
          <p:nvPr/>
        </p:nvSpPr>
        <p:spPr>
          <a:xfrm>
            <a:off x="13478256" y="557784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4E0"/>
                </a:solidFill>
                <a:latin typeface="Arial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78256" y="5093207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 i="0" spc="150">
                <a:solidFill>
                  <a:srgbClr val="A3201F"/>
                </a:solidFill>
                <a:latin typeface="Arial"/>
              </a:rPr>
              <a:t>6–12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78256" y="62179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Arial"/>
              </a:rPr>
              <a:t>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78256" y="6720840"/>
            <a:ext cx="3886200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4A4640"/>
                </a:solidFill>
                <a:latin typeface="Arial"/>
              </a:rPr>
              <a:t>Mobile app, enterprise compliance dashboard, consent-manager partnership under DPDP, ISO 27001.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8641080"/>
            <a:ext cx="164592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2000" b="0" i="1">
                <a:solidFill>
                  <a:srgbClr val="1A1A1A"/>
                </a:solidFill>
                <a:latin typeface="Arial"/>
              </a:rPr>
              <a:t>Consent should stay informed, current and under human control.  </a:t>
            </a:r>
            <a:r>
              <a:rPr sz="2000" b="1" i="0">
                <a:solidFill>
                  <a:srgbClr val="A3201F"/>
                </a:solidFill>
                <a:latin typeface="Arial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Custom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Cinzel</vt:lpstr>
      <vt:lpstr>Calibri</vt:lpstr>
      <vt:lpstr>Arial</vt:lpstr>
      <vt:lpstr>Cinzel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“Some ideas belong to other dimensions”</dc:title>
  <cp:lastModifiedBy>Jai Kesarwani</cp:lastModifiedBy>
  <cp:revision>4</cp:revision>
  <dcterms:created xsi:type="dcterms:W3CDTF">2006-08-16T00:00:00Z</dcterms:created>
  <dcterms:modified xsi:type="dcterms:W3CDTF">2026-10-26T14:42:52Z</dcterms:modified>
  <dc:identifier>DAHZG9EP8_0</dc:identifier>
</cp:coreProperties>
</file>