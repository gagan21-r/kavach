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V_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V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5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94944"/>
            <a:ext cx="108813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mblem" descr="KAVACH shield embl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868680"/>
            <a:ext cx="4937760" cy="4937760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777240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AI • PRIVACY • TRUST</a:t>
            </a:r>
            <a:endParaRPr lang="en-US" sz="1200" dirty="0"/>
          </a:p>
        </p:txBody>
      </p:sp>
      <p:sp>
        <p:nvSpPr>
          <p:cNvPr id="4" name="Wordmark"/>
          <p:cNvSpPr txBox="1"/>
          <p:nvPr/>
        </p:nvSpPr>
        <p:spPr>
          <a:xfrm>
            <a:off x="777240" y="16916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spc="600" kern="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KAVACH</a:t>
            </a:r>
            <a:endParaRPr lang="en-US" sz="8000" dirty="0"/>
          </a:p>
        </p:txBody>
      </p:sp>
      <p:sp>
        <p:nvSpPr>
          <p:cNvPr id="5" name="Subtitle"/>
          <p:cNvSpPr txBox="1"/>
          <p:nvPr/>
        </p:nvSpPr>
        <p:spPr>
          <a:xfrm>
            <a:off x="777240" y="2971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Consent Intelligence &amp; Protection for AI Agents</a:t>
            </a:r>
            <a:endParaRPr lang="en-US" sz="2400" dirty="0"/>
          </a:p>
        </p:txBody>
      </p:sp>
      <p:sp>
        <p:nvSpPr>
          <p:cNvPr id="6" name="Description"/>
          <p:cNvSpPr txBox="1"/>
          <p:nvPr/>
        </p:nvSpPr>
        <p:spPr>
          <a:xfrm>
            <a:off x="777240" y="3584448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FB3C4"/>
                </a:solidFill>
              </a:rPr>
              <a:t>A consent firewall that helps people understand policies, set personal boundaries, and control how AI agents access or share data.</a:t>
            </a:r>
            <a:endParaRPr lang="en-US" sz="1600" dirty="0"/>
          </a:p>
        </p:txBody>
      </p:sp>
      <p:sp>
        <p:nvSpPr>
          <p:cNvPr id="7" name="Divider"/>
          <p:cNvSpPr/>
          <p:nvPr/>
        </p:nvSpPr>
        <p:spPr>
          <a:xfrm>
            <a:off x="777240" y="4892040"/>
            <a:ext cx="5943600" cy="0"/>
          </a:xfrm>
          <a:prstGeom prst="line">
            <a:avLst/>
          </a:prstGeom>
          <a:noFill/>
          <a:ln w="9525">
            <a:solidFill>
              <a:srgbClr val="2A4156"/>
            </a:solidFill>
            <a:prstDash val="solid"/>
          </a:ln>
        </p:spPr>
      </p:sp>
      <p:sp>
        <p:nvSpPr>
          <p:cNvPr id="8" name="Meta"/>
          <p:cNvSpPr txBox="1"/>
          <p:nvPr/>
        </p:nvSpPr>
        <p:spPr>
          <a:xfrm>
            <a:off x="777240" y="50474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4"/>
                </a:solidFill>
              </a:rPr>
              <a:t>Project presentation  |  Consent Court 2.0</a:t>
            </a:r>
            <a:endParaRPr lang="en-US" sz="1200" dirty="0"/>
          </a:p>
        </p:txBody>
      </p:sp>
      <p:sp>
        <p:nvSpPr>
          <p:cNvPr id="9" name="Tagline"/>
          <p:cNvSpPr txBox="1"/>
          <p:nvPr/>
        </p:nvSpPr>
        <p:spPr>
          <a:xfrm>
            <a:off x="777240" y="537667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Informed consent. Enforced boundaries. Human control.</a:t>
            </a:r>
            <a:endParaRPr lang="en-US" sz="1400" dirty="0"/>
          </a:p>
        </p:txBody>
      </p:sp>
      <p:sp>
        <p:nvSpPr>
          <p:cNvPr id="10" name="Page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E8496"/>
                </a:solidFill>
              </a:rPr>
              <a:t>01/07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11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1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4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4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4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4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4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4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THE CONSENT PROBLEM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9494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KAVACH Is Needed</a:t>
            </a:r>
            <a:endParaRPr lang="en-US" sz="3400" dirty="0"/>
          </a:p>
        </p:txBody>
      </p:sp>
      <p:sp>
        <p:nvSpPr>
          <p:cNvPr id="4" name="Problem 01 number"/>
          <p:cNvSpPr txBox="1"/>
          <p:nvPr/>
        </p:nvSpPr>
        <p:spPr>
          <a:xfrm>
            <a:off x="640080" y="16459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Problem 01 title"/>
          <p:cNvSpPr txBox="1"/>
          <p:nvPr/>
        </p:nvSpPr>
        <p:spPr>
          <a:xfrm>
            <a:off x="640080" y="22402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Policies are hard to understand</a:t>
            </a:r>
            <a:endParaRPr lang="en-US" sz="1700" dirty="0"/>
          </a:p>
        </p:txBody>
      </p:sp>
      <p:sp>
        <p:nvSpPr>
          <p:cNvPr id="6" name="Problem 01 body"/>
          <p:cNvSpPr txBox="1"/>
          <p:nvPr/>
        </p:nvSpPr>
        <p:spPr>
          <a:xfrm>
            <a:off x="640080" y="269748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Long legal text hides how data is collected, retained, shared, or used for AI training.</a:t>
            </a:r>
            <a:endParaRPr lang="en-US" sz="1400" dirty="0"/>
          </a:p>
        </p:txBody>
      </p:sp>
      <p:sp>
        <p:nvSpPr>
          <p:cNvPr id="7" name="Divider 1"/>
          <p:cNvSpPr/>
          <p:nvPr/>
        </p:nvSpPr>
        <p:spPr>
          <a:xfrm>
            <a:off x="4206240" y="1691640"/>
            <a:ext cx="0" cy="20574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Problem 02 number"/>
          <p:cNvSpPr txBox="1"/>
          <p:nvPr/>
        </p:nvSpPr>
        <p:spPr>
          <a:xfrm>
            <a:off x="4389120" y="16459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Problem 02 title"/>
          <p:cNvSpPr txBox="1"/>
          <p:nvPr/>
        </p:nvSpPr>
        <p:spPr>
          <a:xfrm>
            <a:off x="4389120" y="22402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Consent can become outdated</a:t>
            </a:r>
            <a:endParaRPr lang="en-US" sz="1700" dirty="0"/>
          </a:p>
        </p:txBody>
      </p:sp>
      <p:sp>
        <p:nvSpPr>
          <p:cNvPr id="10" name="Problem 02 body"/>
          <p:cNvSpPr txBox="1"/>
          <p:nvPr/>
        </p:nvSpPr>
        <p:spPr>
          <a:xfrm>
            <a:off x="4389120" y="269748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A policy may change after a user accepts it, introducing new recipients or purposes.</a:t>
            </a:r>
            <a:endParaRPr lang="en-US" sz="1400" dirty="0"/>
          </a:p>
        </p:txBody>
      </p:sp>
      <p:sp>
        <p:nvSpPr>
          <p:cNvPr id="11" name="Divider 2"/>
          <p:cNvSpPr/>
          <p:nvPr/>
        </p:nvSpPr>
        <p:spPr>
          <a:xfrm>
            <a:off x="7955280" y="1691640"/>
            <a:ext cx="0" cy="20574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Problem 03 number"/>
          <p:cNvSpPr txBox="1"/>
          <p:nvPr/>
        </p:nvSpPr>
        <p:spPr>
          <a:xfrm>
            <a:off x="8138160" y="16459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Problem 03 title"/>
          <p:cNvSpPr txBox="1"/>
          <p:nvPr/>
        </p:nvSpPr>
        <p:spPr>
          <a:xfrm>
            <a:off x="8138160" y="22402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AI agents add new risks</a:t>
            </a:r>
            <a:endParaRPr lang="en-US" sz="1700" dirty="0"/>
          </a:p>
        </p:txBody>
      </p:sp>
      <p:sp>
        <p:nvSpPr>
          <p:cNvPr id="14" name="Problem 03 body"/>
          <p:cNvSpPr txBox="1"/>
          <p:nvPr/>
        </p:nvSpPr>
        <p:spPr>
          <a:xfrm>
            <a:off x="8138160" y="269748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Agents can encounter prompt injection, misleading pages, or conflicting instructions.</a:t>
            </a:r>
            <a:endParaRPr lang="en-US" sz="1400" dirty="0"/>
          </a:p>
        </p:txBody>
      </p:sp>
      <p:sp>
        <p:nvSpPr>
          <p:cNvPr id="15" name="Goal panel"/>
          <p:cNvSpPr/>
          <p:nvPr/>
        </p:nvSpPr>
        <p:spPr>
          <a:xfrm>
            <a:off x="640080" y="4005072"/>
            <a:ext cx="10908792" cy="960120"/>
          </a:xfrm>
          <a:prstGeom prst="roundRect">
            <a:avLst>
              <a:gd name="adj" fmla="val 7619"/>
            </a:avLst>
          </a:prstGeom>
          <a:solidFill>
            <a:schemeClr val="accent5"/>
          </a:solidFill>
          <a:ln/>
        </p:spPr>
      </p:sp>
      <p:sp>
        <p:nvSpPr>
          <p:cNvPr id="16" name="Goal label"/>
          <p:cNvSpPr txBox="1"/>
          <p:nvPr/>
        </p:nvSpPr>
        <p:spPr>
          <a:xfrm>
            <a:off x="960120" y="4160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KAVACH’s goal</a:t>
            </a:r>
            <a:endParaRPr lang="en-US" sz="1200" dirty="0"/>
          </a:p>
        </p:txBody>
      </p:sp>
      <p:sp>
        <p:nvSpPr>
          <p:cNvPr id="17" name="Goal statement"/>
          <p:cNvSpPr txBox="1"/>
          <p:nvPr/>
        </p:nvSpPr>
        <p:spPr>
          <a:xfrm>
            <a:off x="960120" y="4407408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auditable consent firewall between an AI agent and protected data transfers.</a:t>
            </a:r>
            <a:endParaRPr lang="en-US" sz="2000" dirty="0"/>
          </a:p>
        </p:txBody>
      </p:sp>
      <p:sp>
        <p:nvSpPr>
          <p:cNvPr id="18" name="Principles label"/>
          <p:cNvSpPr txBox="1"/>
          <p:nvPr/>
        </p:nvSpPr>
        <p:spPr>
          <a:xfrm>
            <a:off x="640080" y="52303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Core principles</a:t>
            </a:r>
            <a:endParaRPr lang="en-US" sz="1200" dirty="0"/>
          </a:p>
        </p:txBody>
      </p:sp>
      <p:pic>
        <p:nvPicPr>
          <p:cNvPr id="19" name="Principle 1 mar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577840"/>
            <a:ext cx="219456" cy="219456"/>
          </a:xfrm>
          <a:prstGeom prst="rect">
            <a:avLst/>
          </a:prstGeom>
        </p:spPr>
      </p:pic>
      <p:sp>
        <p:nvSpPr>
          <p:cNvPr id="20" name="Principle 1"/>
          <p:cNvSpPr txBox="1"/>
          <p:nvPr/>
        </p:nvSpPr>
        <p:spPr>
          <a:xfrm>
            <a:off x="950976" y="554126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Explicit user rules</a:t>
            </a:r>
            <a:endParaRPr lang="en-US" sz="1400" dirty="0"/>
          </a:p>
        </p:txBody>
      </p:sp>
      <p:pic>
        <p:nvPicPr>
          <p:cNvPr id="21" name="Principle 2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928" y="5577840"/>
            <a:ext cx="219456" cy="219456"/>
          </a:xfrm>
          <a:prstGeom prst="rect">
            <a:avLst/>
          </a:prstGeom>
        </p:spPr>
      </p:pic>
      <p:sp>
        <p:nvSpPr>
          <p:cNvPr id="22" name="Principle 2"/>
          <p:cNvSpPr txBox="1"/>
          <p:nvPr/>
        </p:nvSpPr>
        <p:spPr>
          <a:xfrm>
            <a:off x="3163824" y="554126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Evidence-backed decisions</a:t>
            </a:r>
            <a:endParaRPr lang="en-US" sz="1400" dirty="0"/>
          </a:p>
        </p:txBody>
      </p:sp>
      <p:pic>
        <p:nvPicPr>
          <p:cNvPr id="23" name="Principle 3 mar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5776" y="5577840"/>
            <a:ext cx="219456" cy="219456"/>
          </a:xfrm>
          <a:prstGeom prst="rect">
            <a:avLst/>
          </a:prstGeom>
        </p:spPr>
      </p:pic>
      <p:sp>
        <p:nvSpPr>
          <p:cNvPr id="24" name="Principle 3"/>
          <p:cNvSpPr txBox="1"/>
          <p:nvPr/>
        </p:nvSpPr>
        <p:spPr>
          <a:xfrm>
            <a:off x="5376672" y="554126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Least privilege</a:t>
            </a:r>
            <a:endParaRPr lang="en-US" sz="1400" dirty="0"/>
          </a:p>
        </p:txBody>
      </p:sp>
      <p:pic>
        <p:nvPicPr>
          <p:cNvPr id="25" name="Principle 4 mar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624" y="5577840"/>
            <a:ext cx="219456" cy="219456"/>
          </a:xfrm>
          <a:prstGeom prst="rect">
            <a:avLst/>
          </a:prstGeom>
        </p:spPr>
      </p:pic>
      <p:sp>
        <p:nvSpPr>
          <p:cNvPr id="26" name="Principle 4"/>
          <p:cNvSpPr txBox="1"/>
          <p:nvPr/>
        </p:nvSpPr>
        <p:spPr>
          <a:xfrm>
            <a:off x="7589520" y="554126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Review when uncertain</a:t>
            </a:r>
            <a:endParaRPr lang="en-US" sz="1400" dirty="0"/>
          </a:p>
        </p:txBody>
      </p:sp>
      <p:pic>
        <p:nvPicPr>
          <p:cNvPr id="27" name="Principle 5 mar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1472" y="5577840"/>
            <a:ext cx="219456" cy="219456"/>
          </a:xfrm>
          <a:prstGeom prst="rect">
            <a:avLst/>
          </a:prstGeom>
        </p:spPr>
      </p:pic>
      <p:sp>
        <p:nvSpPr>
          <p:cNvPr id="28" name="Principle 5"/>
          <p:cNvSpPr txBox="1"/>
          <p:nvPr/>
        </p:nvSpPr>
        <p:spPr>
          <a:xfrm>
            <a:off x="9802368" y="554126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Preserve incident evidence</a:t>
            </a:r>
            <a:endParaRPr lang="en-US" sz="1400" dirty="0"/>
          </a:p>
        </p:txBody>
      </p:sp>
      <p:sp>
        <p:nvSpPr>
          <p:cNvPr id="29" name="Footer"/>
          <p:cNvSpPr txBox="1"/>
          <p:nvPr/>
        </p:nvSpPr>
        <p:spPr>
          <a:xfrm>
            <a:off x="9720072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KAVACH  •  2/7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4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4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4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4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4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4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4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4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4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4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4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4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4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4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4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4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4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4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4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4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4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4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4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4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4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20" grpId="0" animBg="1"/>
      <p:bldP spid="22" grpId="0" animBg="1"/>
      <p:bldP spid="24" grpId="0" animBg="1"/>
      <p:bldP spid="26" grpId="0" animBg="1"/>
      <p:bldP spid="2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PERSONALIZED PRIVACY AND ONGOING PROTECTION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9494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3400" dirty="0"/>
          </a:p>
        </p:txBody>
      </p:sp>
      <p:sp>
        <p:nvSpPr>
          <p:cNvPr id="4" name="Rule top"/>
          <p:cNvSpPr/>
          <p:nvPr/>
        </p:nvSpPr>
        <p:spPr>
          <a:xfrm>
            <a:off x="640080" y="1554480"/>
            <a:ext cx="109087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Feature 1 dot"/>
          <p:cNvSpPr/>
          <p:nvPr/>
        </p:nvSpPr>
        <p:spPr>
          <a:xfrm>
            <a:off x="640080" y="1664208"/>
            <a:ext cx="365760" cy="365760"/>
          </a:xfrm>
          <a:prstGeom prst="ellipse">
            <a:avLst/>
          </a:prstGeom>
          <a:solidFill>
            <a:srgbClr val="E6F2F1"/>
          </a:solidFill>
          <a:ln/>
        </p:spPr>
      </p:sp>
      <p:pic>
        <p:nvPicPr>
          <p:cNvPr id="6" name="Feature 1 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55648"/>
            <a:ext cx="182880" cy="182880"/>
          </a:xfrm>
          <a:prstGeom prst="rect">
            <a:avLst/>
          </a:prstGeom>
        </p:spPr>
      </p:pic>
      <p:sp>
        <p:nvSpPr>
          <p:cNvPr id="7" name="Feature 1 title"/>
          <p:cNvSpPr txBox="1"/>
          <p:nvPr/>
        </p:nvSpPr>
        <p:spPr>
          <a:xfrm>
            <a:off x="1188720" y="164592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Personal Consultant</a:t>
            </a:r>
            <a:endParaRPr lang="en-US" sz="1500" dirty="0"/>
          </a:p>
        </p:txBody>
      </p:sp>
      <p:sp>
        <p:nvSpPr>
          <p:cNvPr id="8" name="Feature 1 body"/>
          <p:cNvSpPr txBox="1"/>
          <p:nvPr/>
        </p:nvSpPr>
        <p:spPr>
          <a:xfrm>
            <a:off x="4343400" y="1627632"/>
            <a:ext cx="7178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Helps users set personal boundaries and understand low-risk choices; explains trade-offs in plain language.</a:t>
            </a:r>
            <a:endParaRPr lang="en-US" sz="1350" dirty="0"/>
          </a:p>
        </p:txBody>
      </p:sp>
      <p:sp>
        <p:nvSpPr>
          <p:cNvPr id="9" name="Rule 1"/>
          <p:cNvSpPr/>
          <p:nvPr/>
        </p:nvSpPr>
        <p:spPr>
          <a:xfrm>
            <a:off x="640080" y="2103120"/>
            <a:ext cx="109087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Feature 2 dot"/>
          <p:cNvSpPr/>
          <p:nvPr/>
        </p:nvSpPr>
        <p:spPr>
          <a:xfrm>
            <a:off x="640080" y="2212848"/>
            <a:ext cx="365760" cy="365760"/>
          </a:xfrm>
          <a:prstGeom prst="ellipse">
            <a:avLst/>
          </a:prstGeom>
          <a:solidFill>
            <a:srgbClr val="E6F2F1"/>
          </a:solidFill>
          <a:ln/>
        </p:spPr>
      </p:sp>
      <p:pic>
        <p:nvPicPr>
          <p:cNvPr id="11" name="Feature 2 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04288"/>
            <a:ext cx="182880" cy="182880"/>
          </a:xfrm>
          <a:prstGeom prst="rect">
            <a:avLst/>
          </a:prstGeom>
        </p:spPr>
      </p:pic>
      <p:sp>
        <p:nvSpPr>
          <p:cNvPr id="12" name="Feature 2 title"/>
          <p:cNvSpPr txBox="1"/>
          <p:nvPr/>
        </p:nvSpPr>
        <p:spPr>
          <a:xfrm>
            <a:off x="1188720" y="219456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Emergency Stop</a:t>
            </a:r>
            <a:endParaRPr lang="en-US" sz="1500" dirty="0"/>
          </a:p>
        </p:txBody>
      </p:sp>
      <p:sp>
        <p:nvSpPr>
          <p:cNvPr id="13" name="Feature 2 body"/>
          <p:cNvSpPr txBox="1"/>
          <p:nvPr/>
        </p:nvSpPr>
        <p:spPr>
          <a:xfrm>
            <a:off x="4343400" y="2176272"/>
            <a:ext cx="7178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Freezes protected gateway actions and revokes permissions when warranted; preserves evidence for investigation.</a:t>
            </a:r>
            <a:endParaRPr lang="en-US" sz="1350" dirty="0"/>
          </a:p>
        </p:txBody>
      </p:sp>
      <p:sp>
        <p:nvSpPr>
          <p:cNvPr id="14" name="Rule 2"/>
          <p:cNvSpPr/>
          <p:nvPr/>
        </p:nvSpPr>
        <p:spPr>
          <a:xfrm>
            <a:off x="640080" y="2651760"/>
            <a:ext cx="109087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Feature 3 dot"/>
          <p:cNvSpPr/>
          <p:nvPr/>
        </p:nvSpPr>
        <p:spPr>
          <a:xfrm>
            <a:off x="640080" y="2761488"/>
            <a:ext cx="365760" cy="365760"/>
          </a:xfrm>
          <a:prstGeom prst="ellipse">
            <a:avLst/>
          </a:prstGeom>
          <a:solidFill>
            <a:srgbClr val="E6F2F1"/>
          </a:solidFill>
          <a:ln/>
        </p:spPr>
      </p:sp>
      <p:pic>
        <p:nvPicPr>
          <p:cNvPr id="16" name="Feature 3 glyp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52928"/>
            <a:ext cx="182880" cy="182880"/>
          </a:xfrm>
          <a:prstGeom prst="rect">
            <a:avLst/>
          </a:prstGeom>
        </p:spPr>
      </p:pic>
      <p:sp>
        <p:nvSpPr>
          <p:cNvPr id="17" name="Feature 3 title"/>
          <p:cNvSpPr txBox="1"/>
          <p:nvPr/>
        </p:nvSpPr>
        <p:spPr>
          <a:xfrm>
            <a:off x="1188720" y="274320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Independent Outside Judge</a:t>
            </a:r>
            <a:endParaRPr lang="en-US" sz="1500" dirty="0"/>
          </a:p>
        </p:txBody>
      </p:sp>
      <p:sp>
        <p:nvSpPr>
          <p:cNvPr id="18" name="Feature 3 body"/>
          <p:cNvSpPr txBox="1"/>
          <p:nvPr/>
        </p:nvSpPr>
        <p:spPr>
          <a:xfrm>
            <a:off x="4343400" y="2724912"/>
            <a:ext cx="7178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An independent auditor checks the model’s findings, evidence, and possible bias.</a:t>
            </a:r>
            <a:endParaRPr lang="en-US" sz="1350" dirty="0"/>
          </a:p>
        </p:txBody>
      </p:sp>
      <p:sp>
        <p:nvSpPr>
          <p:cNvPr id="19" name="Rule 3"/>
          <p:cNvSpPr/>
          <p:nvPr/>
        </p:nvSpPr>
        <p:spPr>
          <a:xfrm>
            <a:off x="640080" y="3200400"/>
            <a:ext cx="109087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Feature 4 dot"/>
          <p:cNvSpPr/>
          <p:nvPr/>
        </p:nvSpPr>
        <p:spPr>
          <a:xfrm>
            <a:off x="640080" y="3310128"/>
            <a:ext cx="365760" cy="365760"/>
          </a:xfrm>
          <a:prstGeom prst="ellipse">
            <a:avLst/>
          </a:prstGeom>
          <a:solidFill>
            <a:srgbClr val="E6F2F1"/>
          </a:solidFill>
          <a:ln/>
        </p:spPr>
      </p:sp>
      <p:pic>
        <p:nvPicPr>
          <p:cNvPr id="21" name="Feature 4 glyph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401568"/>
            <a:ext cx="182880" cy="182880"/>
          </a:xfrm>
          <a:prstGeom prst="rect">
            <a:avLst/>
          </a:prstGeom>
        </p:spPr>
      </p:pic>
      <p:sp>
        <p:nvSpPr>
          <p:cNvPr id="22" name="Feature 4 title"/>
          <p:cNvSpPr txBox="1"/>
          <p:nvPr/>
        </p:nvSpPr>
        <p:spPr>
          <a:xfrm>
            <a:off x="1188720" y="329184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Token Issuing Gateway</a:t>
            </a:r>
            <a:endParaRPr lang="en-US" sz="1500" dirty="0"/>
          </a:p>
        </p:txBody>
      </p:sp>
      <p:sp>
        <p:nvSpPr>
          <p:cNvPr id="23" name="Feature 4 body"/>
          <p:cNvSpPr txBox="1"/>
          <p:nvPr/>
        </p:nvSpPr>
        <p:spPr>
          <a:xfrm>
            <a:off x="4343400" y="3273552"/>
            <a:ext cx="7178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Issues short-lived, scoped tokens; checks validity, destination, purpose, policy version and limits before allowing transfer.</a:t>
            </a:r>
            <a:endParaRPr lang="en-US" sz="1350" dirty="0"/>
          </a:p>
        </p:txBody>
      </p:sp>
      <p:sp>
        <p:nvSpPr>
          <p:cNvPr id="24" name="Rule 4"/>
          <p:cNvSpPr/>
          <p:nvPr/>
        </p:nvSpPr>
        <p:spPr>
          <a:xfrm>
            <a:off x="640080" y="3749040"/>
            <a:ext cx="109087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5" name="Feature 5 dot"/>
          <p:cNvSpPr/>
          <p:nvPr/>
        </p:nvSpPr>
        <p:spPr>
          <a:xfrm>
            <a:off x="640080" y="3858768"/>
            <a:ext cx="365760" cy="365760"/>
          </a:xfrm>
          <a:prstGeom prst="ellipse">
            <a:avLst/>
          </a:prstGeom>
          <a:solidFill>
            <a:srgbClr val="E6F2F1"/>
          </a:solidFill>
          <a:ln/>
        </p:spPr>
      </p:sp>
      <p:pic>
        <p:nvPicPr>
          <p:cNvPr id="26" name="Feature 5 glyph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950208"/>
            <a:ext cx="182880" cy="182880"/>
          </a:xfrm>
          <a:prstGeom prst="rect">
            <a:avLst/>
          </a:prstGeom>
        </p:spPr>
      </p:pic>
      <p:sp>
        <p:nvSpPr>
          <p:cNvPr id="27" name="Feature 5 title"/>
          <p:cNvSpPr txBox="1"/>
          <p:nvPr/>
        </p:nvSpPr>
        <p:spPr>
          <a:xfrm>
            <a:off x="1188720" y="384048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Explanation Chatbot + Graphs</a:t>
            </a:r>
            <a:endParaRPr lang="en-US" sz="1500" dirty="0"/>
          </a:p>
        </p:txBody>
      </p:sp>
      <p:sp>
        <p:nvSpPr>
          <p:cNvPr id="28" name="Feature 5 body"/>
          <p:cNvSpPr txBox="1"/>
          <p:nvPr/>
        </p:nvSpPr>
        <p:spPr>
          <a:xfrm>
            <a:off x="4343400" y="3822192"/>
            <a:ext cx="7178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Explains decisions and displays data-flow lineage, risk signals, and changes in an understandable format.</a:t>
            </a:r>
            <a:endParaRPr lang="en-US" sz="1350" dirty="0"/>
          </a:p>
        </p:txBody>
      </p:sp>
      <p:sp>
        <p:nvSpPr>
          <p:cNvPr id="29" name="Rule 5"/>
          <p:cNvSpPr/>
          <p:nvPr/>
        </p:nvSpPr>
        <p:spPr>
          <a:xfrm>
            <a:off x="640080" y="4297680"/>
            <a:ext cx="109087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0" name="Feature 6 dot"/>
          <p:cNvSpPr/>
          <p:nvPr/>
        </p:nvSpPr>
        <p:spPr>
          <a:xfrm>
            <a:off x="640080" y="4407408"/>
            <a:ext cx="365760" cy="365760"/>
          </a:xfrm>
          <a:prstGeom prst="ellipse">
            <a:avLst/>
          </a:prstGeom>
          <a:solidFill>
            <a:srgbClr val="E6F2F1"/>
          </a:solidFill>
          <a:ln/>
        </p:spPr>
      </p:sp>
      <p:pic>
        <p:nvPicPr>
          <p:cNvPr id="31" name="Feature 6 glyph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498848"/>
            <a:ext cx="182880" cy="182880"/>
          </a:xfrm>
          <a:prstGeom prst="rect">
            <a:avLst/>
          </a:prstGeom>
        </p:spPr>
      </p:pic>
      <p:sp>
        <p:nvSpPr>
          <p:cNvPr id="32" name="Feature 6 title"/>
          <p:cNvSpPr txBox="1"/>
          <p:nvPr/>
        </p:nvSpPr>
        <p:spPr>
          <a:xfrm>
            <a:off x="1188720" y="438912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Synthetic Red-Team Lab</a:t>
            </a:r>
            <a:endParaRPr lang="en-US" sz="1500" dirty="0"/>
          </a:p>
        </p:txBody>
      </p:sp>
      <p:sp>
        <p:nvSpPr>
          <p:cNvPr id="33" name="Feature 6 body"/>
          <p:cNvSpPr txBox="1"/>
          <p:nvPr/>
        </p:nvSpPr>
        <p:spPr>
          <a:xfrm>
            <a:off x="4343400" y="4370832"/>
            <a:ext cx="7178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Tests fake scenarios—prompt injection, conflicting findings, stale tokens and policy changes—without exposing real data.</a:t>
            </a:r>
            <a:endParaRPr lang="en-US" sz="1350" dirty="0"/>
          </a:p>
        </p:txBody>
      </p:sp>
      <p:sp>
        <p:nvSpPr>
          <p:cNvPr id="34" name="Rule 6"/>
          <p:cNvSpPr/>
          <p:nvPr/>
        </p:nvSpPr>
        <p:spPr>
          <a:xfrm>
            <a:off x="640080" y="4846320"/>
            <a:ext cx="109087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5" name="Feature 7 dot"/>
          <p:cNvSpPr/>
          <p:nvPr/>
        </p:nvSpPr>
        <p:spPr>
          <a:xfrm>
            <a:off x="640080" y="4956048"/>
            <a:ext cx="365760" cy="365760"/>
          </a:xfrm>
          <a:prstGeom prst="ellipse">
            <a:avLst/>
          </a:prstGeom>
          <a:solidFill>
            <a:srgbClr val="E6F2F1"/>
          </a:solidFill>
          <a:ln/>
        </p:spPr>
      </p:sp>
      <p:pic>
        <p:nvPicPr>
          <p:cNvPr id="36" name="Feature 7 glyph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5047488"/>
            <a:ext cx="182880" cy="182880"/>
          </a:xfrm>
          <a:prstGeom prst="rect">
            <a:avLst/>
          </a:prstGeom>
        </p:spPr>
      </p:pic>
      <p:sp>
        <p:nvSpPr>
          <p:cNvPr id="37" name="Feature 7 title"/>
          <p:cNvSpPr txBox="1"/>
          <p:nvPr/>
        </p:nvSpPr>
        <p:spPr>
          <a:xfrm>
            <a:off x="1188720" y="493776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Continuous Data-Tracking / Ad Blocking</a:t>
            </a:r>
            <a:endParaRPr lang="en-US" sz="1500" dirty="0"/>
          </a:p>
        </p:txBody>
      </p:sp>
      <p:sp>
        <p:nvSpPr>
          <p:cNvPr id="38" name="Feature 7 body"/>
          <p:cNvSpPr txBox="1"/>
          <p:nvPr/>
        </p:nvSpPr>
        <p:spPr>
          <a:xfrm>
            <a:off x="4343400" y="4919472"/>
            <a:ext cx="7178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Tracks supported data flows and highlights unexpected tracking or advertising-related data sharing where detectable.</a:t>
            </a:r>
            <a:endParaRPr lang="en-US" sz="1350" dirty="0"/>
          </a:p>
        </p:txBody>
      </p:sp>
      <p:sp>
        <p:nvSpPr>
          <p:cNvPr id="39" name="Rule 7"/>
          <p:cNvSpPr/>
          <p:nvPr/>
        </p:nvSpPr>
        <p:spPr>
          <a:xfrm>
            <a:off x="640080" y="5394960"/>
            <a:ext cx="109087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0" name="Boundary panel"/>
          <p:cNvSpPr/>
          <p:nvPr/>
        </p:nvSpPr>
        <p:spPr>
          <a:xfrm>
            <a:off x="640080" y="5577840"/>
            <a:ext cx="10908792" cy="566928"/>
          </a:xfrm>
          <a:prstGeom prst="roundRect">
            <a:avLst>
              <a:gd name="adj" fmla="val 12903"/>
            </a:avLst>
          </a:prstGeom>
          <a:solidFill>
            <a:schemeClr val="accent6"/>
          </a:solidFill>
          <a:ln/>
        </p:spPr>
      </p:sp>
      <p:pic>
        <p:nvPicPr>
          <p:cNvPr id="41" name="Boundary glyph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5742432"/>
            <a:ext cx="237744" cy="237744"/>
          </a:xfrm>
          <a:prstGeom prst="rect">
            <a:avLst/>
          </a:prstGeom>
        </p:spPr>
      </p:pic>
      <p:sp>
        <p:nvSpPr>
          <p:cNvPr id="42" name="Boundary text"/>
          <p:cNvSpPr txBox="1"/>
          <p:nvPr/>
        </p:nvSpPr>
        <p:spPr>
          <a:xfrm>
            <a:off x="1234440" y="5577840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3"/>
                </a:solidFill>
              </a:rPr>
              <a:t>Important boundary   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KAVACH can only observe instrumented flows; it cannot guarantee detection of all tracking or retrieve data already stolen by an attacker.</a:t>
            </a:r>
            <a:endParaRPr lang="en-US" sz="1350" dirty="0"/>
          </a:p>
        </p:txBody>
      </p:sp>
      <p:sp>
        <p:nvSpPr>
          <p:cNvPr id="43" name="Footer"/>
          <p:cNvSpPr txBox="1"/>
          <p:nvPr/>
        </p:nvSpPr>
        <p:spPr>
          <a:xfrm>
            <a:off x="9720072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KAVACH  •  3/7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4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4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4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4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4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4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4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4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4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4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4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4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4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4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4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4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4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4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4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4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4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4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45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45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45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45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45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45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45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45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45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45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45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45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45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 animBg="1"/>
      <p:bldP spid="13" grpId="0" animBg="1"/>
      <p:bldP spid="17" grpId="0" animBg="1"/>
      <p:bldP spid="18" grpId="0" animBg="1"/>
      <p:bldP spid="22" grpId="0" animBg="1"/>
      <p:bldP spid="23" grpId="0" animBg="1"/>
      <p:bldP spid="27" grpId="0" animBg="1"/>
      <p:bldP spid="28" grpId="0" animBg="1"/>
      <p:bldP spid="32" grpId="0" animBg="1"/>
      <p:bldP spid="33" grpId="0" animBg="1"/>
      <p:bldP spid="37" grpId="0" animBg="1"/>
      <p:bldP spid="38" grpId="0" animBg="1"/>
      <p:bldP spid="4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SECURE IDENTITY • EXPLICIT APPROVAL • USER-DEFINED RULES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9494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Authentication &amp; Personal Consent</a:t>
            </a:r>
            <a:endParaRPr lang="en-US" sz="3400" dirty="0"/>
          </a:p>
        </p:txBody>
      </p:sp>
      <p:sp>
        <p:nvSpPr>
          <p:cNvPr id="4" name="Step track"/>
          <p:cNvSpPr/>
          <p:nvPr/>
        </p:nvSpPr>
        <p:spPr>
          <a:xfrm>
            <a:off x="914400" y="1938528"/>
            <a:ext cx="7498080" cy="0"/>
          </a:xfrm>
          <a:prstGeom prst="line">
            <a:avLst/>
          </a:prstGeom>
          <a:noFill/>
          <a:ln w="15875">
            <a:solidFill>
              <a:srgbClr val="B9D7D3"/>
            </a:solidFill>
            <a:prstDash val="solid"/>
          </a:ln>
        </p:spPr>
      </p:sp>
      <p:sp>
        <p:nvSpPr>
          <p:cNvPr id="5" name="Step 1 dot"/>
          <p:cNvSpPr/>
          <p:nvPr/>
        </p:nvSpPr>
        <p:spPr>
          <a:xfrm>
            <a:off x="640080" y="1664208"/>
            <a:ext cx="548640" cy="5486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6" name="Step 1 numeral"/>
          <p:cNvSpPr txBox="1"/>
          <p:nvPr/>
        </p:nvSpPr>
        <p:spPr>
          <a:xfrm>
            <a:off x="640080" y="1664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tep 1 title"/>
          <p:cNvSpPr txBox="1"/>
          <p:nvPr/>
        </p:nvSpPr>
        <p:spPr>
          <a:xfrm>
            <a:off x="640080" y="23957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Authenticate the user</a:t>
            </a:r>
            <a:endParaRPr lang="en-US" sz="1800" dirty="0"/>
          </a:p>
        </p:txBody>
      </p:sp>
      <p:sp>
        <p:nvSpPr>
          <p:cNvPr id="8" name="Step 1 list"/>
          <p:cNvSpPr txBox="1"/>
          <p:nvPr/>
        </p:nvSpPr>
        <p:spPr>
          <a:xfrm>
            <a:off x="640080" y="283464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–"/>
            </a:pPr>
            <a:r>
              <a:rPr lang="en-US" sz="1400" dirty="0">
                <a:solidFill>
                  <a:schemeClr val="accent4"/>
                </a:solidFill>
              </a:rPr>
              <a:t>Verify identity before sensitive actions</a:t>
            </a:r>
            <a:endParaRPr lang="en-US" sz="1400" dirty="0"/>
          </a:p>
          <a:p>
            <a:pPr marL="228600" indent="-228600">
              <a:spcAft>
                <a:spcPts val="500"/>
              </a:spcAft>
              <a:buSzPct val="100000"/>
              <a:buChar char="–"/>
            </a:pPr>
            <a:r>
              <a:rPr lang="en-US" sz="1400" dirty="0">
                <a:solidFill>
                  <a:schemeClr val="accent4"/>
                </a:solidFill>
              </a:rPr>
              <a:t>Use passkeys / WebAuthn or secure step-up authentication</a:t>
            </a:r>
            <a:endParaRPr lang="en-US" sz="1400" dirty="0"/>
          </a:p>
          <a:p>
            <a:pPr marL="228600" indent="-228600">
              <a:spcAft>
                <a:spcPts val="500"/>
              </a:spcAft>
              <a:buSzPct val="100000"/>
              <a:buChar char="–"/>
            </a:pPr>
            <a:r>
              <a:rPr lang="en-US" sz="1400" dirty="0">
                <a:solidFill>
                  <a:schemeClr val="accent4"/>
                </a:solidFill>
              </a:rPr>
              <a:t>Voice alone is not enough</a:t>
            </a:r>
            <a:endParaRPr lang="en-US" sz="1400" dirty="0"/>
          </a:p>
        </p:txBody>
      </p:sp>
      <p:sp>
        <p:nvSpPr>
          <p:cNvPr id="9" name="Step 2 dot"/>
          <p:cNvSpPr/>
          <p:nvPr/>
        </p:nvSpPr>
        <p:spPr>
          <a:xfrm>
            <a:off x="4389120" y="1664208"/>
            <a:ext cx="548640" cy="5486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0" name="Step 2 numeral"/>
          <p:cNvSpPr txBox="1"/>
          <p:nvPr/>
        </p:nvSpPr>
        <p:spPr>
          <a:xfrm>
            <a:off x="4389120" y="1664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tep 2 title"/>
          <p:cNvSpPr txBox="1"/>
          <p:nvPr/>
        </p:nvSpPr>
        <p:spPr>
          <a:xfrm>
            <a:off x="4389120" y="23957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Set personal boundaries</a:t>
            </a:r>
            <a:endParaRPr lang="en-US" sz="1800" dirty="0"/>
          </a:p>
        </p:txBody>
      </p:sp>
      <p:sp>
        <p:nvSpPr>
          <p:cNvPr id="12" name="Step 2 list"/>
          <p:cNvSpPr txBox="1"/>
          <p:nvPr/>
        </p:nvSpPr>
        <p:spPr>
          <a:xfrm>
            <a:off x="4389120" y="283464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–"/>
            </a:pPr>
            <a:r>
              <a:rPr lang="en-US" sz="1400" dirty="0">
                <a:solidFill>
                  <a:schemeClr val="accent4"/>
                </a:solidFill>
              </a:rPr>
              <a:t>ALLOW: specific data, purpose and recipient</a:t>
            </a:r>
            <a:endParaRPr lang="en-US" sz="1400" dirty="0"/>
          </a:p>
          <a:p>
            <a:pPr marL="228600" indent="-228600">
              <a:spcAft>
                <a:spcPts val="500"/>
              </a:spcAft>
              <a:buSzPct val="100000"/>
              <a:buChar char="–"/>
            </a:pPr>
            <a:r>
              <a:rPr lang="en-US" sz="1400" dirty="0">
                <a:solidFill>
                  <a:schemeClr val="accent4"/>
                </a:solidFill>
              </a:rPr>
              <a:t>DENY: explicit prohibition</a:t>
            </a:r>
            <a:endParaRPr lang="en-US" sz="1400" dirty="0"/>
          </a:p>
          <a:p>
            <a:pPr marL="228600" indent="-228600">
              <a:spcAft>
                <a:spcPts val="500"/>
              </a:spcAft>
              <a:buSzPct val="100000"/>
              <a:buChar char="–"/>
            </a:pPr>
            <a:r>
              <a:rPr lang="en-US" sz="1400" dirty="0">
                <a:solidFill>
                  <a:schemeClr val="accent4"/>
                </a:solidFill>
              </a:rPr>
              <a:t>ASK / REVIEW: unclear or sensitive requests</a:t>
            </a:r>
            <a:endParaRPr lang="en-US" sz="1400" dirty="0"/>
          </a:p>
        </p:txBody>
      </p:sp>
      <p:sp>
        <p:nvSpPr>
          <p:cNvPr id="13" name="Step 3 dot"/>
          <p:cNvSpPr/>
          <p:nvPr/>
        </p:nvSpPr>
        <p:spPr>
          <a:xfrm>
            <a:off x="8138160" y="1664208"/>
            <a:ext cx="548640" cy="5486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4" name="Step 3 numeral"/>
          <p:cNvSpPr txBox="1"/>
          <p:nvPr/>
        </p:nvSpPr>
        <p:spPr>
          <a:xfrm>
            <a:off x="8138160" y="1664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Step 3 title"/>
          <p:cNvSpPr txBox="1"/>
          <p:nvPr/>
        </p:nvSpPr>
        <p:spPr>
          <a:xfrm>
            <a:off x="8138160" y="23957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Authorize each action</a:t>
            </a:r>
            <a:endParaRPr lang="en-US" sz="1800" dirty="0"/>
          </a:p>
        </p:txBody>
      </p:sp>
      <p:sp>
        <p:nvSpPr>
          <p:cNvPr id="16" name="Step 3 list"/>
          <p:cNvSpPr txBox="1"/>
          <p:nvPr/>
        </p:nvSpPr>
        <p:spPr>
          <a:xfrm>
            <a:off x="8138160" y="283464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–"/>
            </a:pPr>
            <a:r>
              <a:rPr lang="en-US" sz="1400" dirty="0">
                <a:solidFill>
                  <a:schemeClr val="accent4"/>
                </a:solidFill>
              </a:rPr>
              <a:t>Check current policy and consent version</a:t>
            </a:r>
            <a:endParaRPr lang="en-US" sz="1400" dirty="0"/>
          </a:p>
          <a:p>
            <a:pPr marL="228600" indent="-228600">
              <a:spcAft>
                <a:spcPts val="500"/>
              </a:spcAft>
              <a:buSzPct val="100000"/>
              <a:buChar char="–"/>
            </a:pPr>
            <a:r>
              <a:rPr lang="en-US" sz="1400" dirty="0">
                <a:solidFill>
                  <a:schemeClr val="accent4"/>
                </a:solidFill>
              </a:rPr>
              <a:t>Confirm destination, purpose and data scope</a:t>
            </a:r>
            <a:endParaRPr lang="en-US" sz="1400" dirty="0"/>
          </a:p>
          <a:p>
            <a:pPr marL="228600" indent="-228600">
              <a:spcAft>
                <a:spcPts val="500"/>
              </a:spcAft>
              <a:buSzPct val="100000"/>
              <a:buChar char="–"/>
            </a:pPr>
            <a:r>
              <a:rPr lang="en-US" sz="1400" dirty="0">
                <a:solidFill>
                  <a:schemeClr val="accent4"/>
                </a:solidFill>
              </a:rPr>
              <a:t>Require explicit confirmation for real provider actions</a:t>
            </a:r>
            <a:endParaRPr lang="en-US" sz="1400" dirty="0"/>
          </a:p>
        </p:txBody>
      </p:sp>
      <p:sp>
        <p:nvSpPr>
          <p:cNvPr id="17" name="Precedence label"/>
          <p:cNvSpPr txBox="1"/>
          <p:nvPr/>
        </p:nvSpPr>
        <p:spPr>
          <a:xfrm>
            <a:off x="640080" y="4434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Decision precedence</a:t>
            </a:r>
            <a:endParaRPr lang="en-US" sz="1200" dirty="0"/>
          </a:p>
        </p:txBody>
      </p:sp>
      <p:sp>
        <p:nvSpPr>
          <p:cNvPr id="18" name="Precedence 1"/>
          <p:cNvSpPr/>
          <p:nvPr/>
        </p:nvSpPr>
        <p:spPr>
          <a:xfrm>
            <a:off x="640080" y="4754880"/>
            <a:ext cx="3200400" cy="658368"/>
          </a:xfrm>
          <a:prstGeom prst="roundRect">
            <a:avLst>
              <a:gd name="adj" fmla="val 11111"/>
            </a:avLst>
          </a:prstGeom>
          <a:solidFill>
            <a:schemeClr val="accent3"/>
          </a:solidFill>
          <a:ln/>
        </p:spPr>
      </p:sp>
      <p:sp>
        <p:nvSpPr>
          <p:cNvPr id="19" name="Precedence 1 text"/>
          <p:cNvSpPr txBox="1"/>
          <p:nvPr/>
        </p:nvSpPr>
        <p:spPr>
          <a:xfrm>
            <a:off x="914400" y="475488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chemeClr val="bg1"/>
                </a:solidFill>
              </a:rPr>
              <a:t>USER DENY</a:t>
            </a:r>
            <a:endParaRPr lang="en-US" sz="1500" dirty="0"/>
          </a:p>
        </p:txBody>
      </p:sp>
      <p:sp>
        <p:nvSpPr>
          <p:cNvPr id="20" name="Precedence arrow 1"/>
          <p:cNvSpPr/>
          <p:nvPr/>
        </p:nvSpPr>
        <p:spPr>
          <a:xfrm>
            <a:off x="4005072" y="4965192"/>
            <a:ext cx="182880" cy="237744"/>
          </a:xfrm>
          <a:prstGeom prst="chevron">
            <a:avLst/>
          </a:prstGeom>
          <a:solidFill>
            <a:srgbClr val="94A3B8"/>
          </a:solidFill>
          <a:ln/>
        </p:spPr>
      </p:sp>
      <p:sp>
        <p:nvSpPr>
          <p:cNvPr id="21" name="Precedence 2"/>
          <p:cNvSpPr/>
          <p:nvPr/>
        </p:nvSpPr>
        <p:spPr>
          <a:xfrm>
            <a:off x="4494276" y="4754880"/>
            <a:ext cx="3200400" cy="658368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</p:sp>
      <p:sp>
        <p:nvSpPr>
          <p:cNvPr id="22" name="Precedence 2 text"/>
          <p:cNvSpPr txBox="1"/>
          <p:nvPr/>
        </p:nvSpPr>
        <p:spPr>
          <a:xfrm>
            <a:off x="4768596" y="475488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REVIEW / BLOCK if uncertain</a:t>
            </a:r>
            <a:endParaRPr lang="en-US" sz="1500" dirty="0"/>
          </a:p>
        </p:txBody>
      </p:sp>
      <p:sp>
        <p:nvSpPr>
          <p:cNvPr id="23" name="Precedence arrow 2"/>
          <p:cNvSpPr/>
          <p:nvPr/>
        </p:nvSpPr>
        <p:spPr>
          <a:xfrm>
            <a:off x="7859268" y="4965192"/>
            <a:ext cx="182880" cy="237744"/>
          </a:xfrm>
          <a:prstGeom prst="chevron">
            <a:avLst/>
          </a:prstGeom>
          <a:solidFill>
            <a:srgbClr val="94A3B8"/>
          </a:solidFill>
          <a:ln/>
        </p:spPr>
      </p:sp>
      <p:sp>
        <p:nvSpPr>
          <p:cNvPr id="24" name="Precedence 3"/>
          <p:cNvSpPr/>
          <p:nvPr/>
        </p:nvSpPr>
        <p:spPr>
          <a:xfrm>
            <a:off x="8348472" y="4754880"/>
            <a:ext cx="320040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25" name="Precedence 3 text"/>
          <p:cNvSpPr txBox="1"/>
          <p:nvPr/>
        </p:nvSpPr>
        <p:spPr>
          <a:xfrm>
            <a:off x="8622792" y="475488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Model recommendation</a:t>
            </a:r>
            <a:endParaRPr lang="en-US" sz="1500" dirty="0"/>
          </a:p>
        </p:txBody>
      </p:sp>
      <p:pic>
        <p:nvPicPr>
          <p:cNvPr id="26" name="Guardian 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779008"/>
            <a:ext cx="256032" cy="256032"/>
          </a:xfrm>
          <a:prstGeom prst="rect">
            <a:avLst/>
          </a:prstGeom>
        </p:spPr>
      </p:pic>
      <p:sp>
        <p:nvSpPr>
          <p:cNvPr id="27" name="Guardian statement"/>
          <p:cNvSpPr txBox="1"/>
          <p:nvPr/>
        </p:nvSpPr>
        <p:spPr>
          <a:xfrm>
            <a:off x="1024128" y="5742432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Only the trusted server-side Guardian can grant or revoke permissions; an AI model cannot override user rules.</a:t>
            </a:r>
            <a:endParaRPr lang="en-US" sz="1500" dirty="0"/>
          </a:p>
        </p:txBody>
      </p:sp>
      <p:sp>
        <p:nvSpPr>
          <p:cNvPr id="28" name="Footer"/>
          <p:cNvSpPr txBox="1"/>
          <p:nvPr/>
        </p:nvSpPr>
        <p:spPr>
          <a:xfrm>
            <a:off x="9720072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KAVACH  •  4/7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4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4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4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4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4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4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4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4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4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4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4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4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4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4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4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4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4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4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4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4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2" grpId="0" animBg="1"/>
      <p:bldP spid="25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EVIDENCE-LED DECISIONS WITH CONFLICT HANDLING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9494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Multi-Agent Workflow</a:t>
            </a:r>
            <a:endParaRPr lang="en-US" sz="3400" dirty="0"/>
          </a:p>
        </p:txBody>
      </p:sp>
      <p:sp>
        <p:nvSpPr>
          <p:cNvPr id="4" name="Sentinel card"/>
          <p:cNvSpPr/>
          <p:nvPr/>
        </p:nvSpPr>
        <p:spPr>
          <a:xfrm>
            <a:off x="640080" y="1627632"/>
            <a:ext cx="24688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5" name="Sentinel dot"/>
          <p:cNvSpPr/>
          <p:nvPr/>
        </p:nvSpPr>
        <p:spPr>
          <a:xfrm>
            <a:off x="841248" y="181051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Sentinel 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20240"/>
            <a:ext cx="219456" cy="219456"/>
          </a:xfrm>
          <a:prstGeom prst="rect">
            <a:avLst/>
          </a:prstGeom>
        </p:spPr>
      </p:pic>
      <p:sp>
        <p:nvSpPr>
          <p:cNvPr id="7" name="Sentinel name"/>
          <p:cNvSpPr txBox="1"/>
          <p:nvPr/>
        </p:nvSpPr>
        <p:spPr>
          <a:xfrm>
            <a:off x="841248" y="2340864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Sentinel</a:t>
            </a:r>
            <a:endParaRPr lang="en-US" sz="1600" dirty="0"/>
          </a:p>
        </p:txBody>
      </p:sp>
      <p:sp>
        <p:nvSpPr>
          <p:cNvPr id="8" name="Sentinel desc"/>
          <p:cNvSpPr txBox="1"/>
          <p:nvPr/>
        </p:nvSpPr>
        <p:spPr>
          <a:xfrm>
            <a:off x="841248" y="2633472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Sanitizes policy text and flags hidden instructions.</a:t>
            </a:r>
            <a:endParaRPr lang="en-US" sz="1350" dirty="0"/>
          </a:p>
        </p:txBody>
      </p:sp>
      <p:sp>
        <p:nvSpPr>
          <p:cNvPr id="9" name="Arrow 1"/>
          <p:cNvSpPr/>
          <p:nvPr/>
        </p:nvSpPr>
        <p:spPr>
          <a:xfrm>
            <a:off x="3172968" y="2359152"/>
            <a:ext cx="216408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Prosecutor card"/>
          <p:cNvSpPr/>
          <p:nvPr/>
        </p:nvSpPr>
        <p:spPr>
          <a:xfrm>
            <a:off x="3453384" y="1627632"/>
            <a:ext cx="24688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1" name="Prosecutor dot"/>
          <p:cNvSpPr/>
          <p:nvPr/>
        </p:nvSpPr>
        <p:spPr>
          <a:xfrm>
            <a:off x="3654552" y="181051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Prosecutor 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280" y="1920240"/>
            <a:ext cx="219456" cy="219456"/>
          </a:xfrm>
          <a:prstGeom prst="rect">
            <a:avLst/>
          </a:prstGeom>
        </p:spPr>
      </p:pic>
      <p:sp>
        <p:nvSpPr>
          <p:cNvPr id="13" name="Prosecutor name"/>
          <p:cNvSpPr txBox="1"/>
          <p:nvPr/>
        </p:nvSpPr>
        <p:spPr>
          <a:xfrm>
            <a:off x="3654552" y="2340864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Prosecutor</a:t>
            </a:r>
            <a:endParaRPr lang="en-US" sz="1600" dirty="0"/>
          </a:p>
        </p:txBody>
      </p:sp>
      <p:sp>
        <p:nvSpPr>
          <p:cNvPr id="14" name="Prosecutor desc"/>
          <p:cNvSpPr txBox="1"/>
          <p:nvPr/>
        </p:nvSpPr>
        <p:spPr>
          <a:xfrm>
            <a:off x="3654552" y="2633472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Raises evidence-backed risk concerns.</a:t>
            </a:r>
            <a:endParaRPr lang="en-US" sz="1350" dirty="0"/>
          </a:p>
        </p:txBody>
      </p:sp>
      <p:sp>
        <p:nvSpPr>
          <p:cNvPr id="15" name="Arrow 2"/>
          <p:cNvSpPr/>
          <p:nvPr/>
        </p:nvSpPr>
        <p:spPr>
          <a:xfrm>
            <a:off x="5986272" y="2359152"/>
            <a:ext cx="216408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headEnd type="triangle"/>
            <a:tailEnd type="triangle"/>
          </a:ln>
        </p:spPr>
      </p:sp>
      <p:sp>
        <p:nvSpPr>
          <p:cNvPr id="16" name="Defense card"/>
          <p:cNvSpPr/>
          <p:nvPr/>
        </p:nvSpPr>
        <p:spPr>
          <a:xfrm>
            <a:off x="6266688" y="1627632"/>
            <a:ext cx="24688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7" name="Defense dot"/>
          <p:cNvSpPr/>
          <p:nvPr/>
        </p:nvSpPr>
        <p:spPr>
          <a:xfrm>
            <a:off x="6467856" y="181051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Defense glyp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584" y="1920240"/>
            <a:ext cx="219456" cy="219456"/>
          </a:xfrm>
          <a:prstGeom prst="rect">
            <a:avLst/>
          </a:prstGeom>
        </p:spPr>
      </p:pic>
      <p:sp>
        <p:nvSpPr>
          <p:cNvPr id="19" name="Defense name"/>
          <p:cNvSpPr txBox="1"/>
          <p:nvPr/>
        </p:nvSpPr>
        <p:spPr>
          <a:xfrm>
            <a:off x="6467856" y="2340864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Defense</a:t>
            </a:r>
            <a:endParaRPr lang="en-US" sz="1600" dirty="0"/>
          </a:p>
        </p:txBody>
      </p:sp>
      <p:sp>
        <p:nvSpPr>
          <p:cNvPr id="20" name="Defense desc"/>
          <p:cNvSpPr txBox="1"/>
          <p:nvPr/>
        </p:nvSpPr>
        <p:spPr>
          <a:xfrm>
            <a:off x="6467856" y="2633472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Checks justifications and potential benefits.</a:t>
            </a:r>
            <a:endParaRPr lang="en-US" sz="1350" dirty="0"/>
          </a:p>
        </p:txBody>
      </p:sp>
      <p:sp>
        <p:nvSpPr>
          <p:cNvPr id="21" name="Arrow 3"/>
          <p:cNvSpPr/>
          <p:nvPr/>
        </p:nvSpPr>
        <p:spPr>
          <a:xfrm>
            <a:off x="8799576" y="2359152"/>
            <a:ext cx="216408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Evidence Clerk card"/>
          <p:cNvSpPr/>
          <p:nvPr/>
        </p:nvSpPr>
        <p:spPr>
          <a:xfrm>
            <a:off x="9079992" y="1627632"/>
            <a:ext cx="24688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23" name="Evidence Clerk dot"/>
          <p:cNvSpPr/>
          <p:nvPr/>
        </p:nvSpPr>
        <p:spPr>
          <a:xfrm>
            <a:off x="9281160" y="181051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Evidence Clerk glyph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888" y="1920240"/>
            <a:ext cx="219456" cy="219456"/>
          </a:xfrm>
          <a:prstGeom prst="rect">
            <a:avLst/>
          </a:prstGeom>
        </p:spPr>
      </p:pic>
      <p:sp>
        <p:nvSpPr>
          <p:cNvPr id="25" name="Evidence Clerk name"/>
          <p:cNvSpPr txBox="1"/>
          <p:nvPr/>
        </p:nvSpPr>
        <p:spPr>
          <a:xfrm>
            <a:off x="9281160" y="2340864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Evidence Clerk</a:t>
            </a:r>
            <a:endParaRPr lang="en-US" sz="1600" dirty="0"/>
          </a:p>
        </p:txBody>
      </p:sp>
      <p:sp>
        <p:nvSpPr>
          <p:cNvPr id="26" name="Evidence Clerk desc"/>
          <p:cNvSpPr txBox="1"/>
          <p:nvPr/>
        </p:nvSpPr>
        <p:spPr>
          <a:xfrm>
            <a:off x="9281160" y="2633472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Verifies exact text spans and citations.</a:t>
            </a:r>
            <a:endParaRPr lang="en-US" sz="1350" dirty="0"/>
          </a:p>
        </p:txBody>
      </p:sp>
      <p:sp>
        <p:nvSpPr>
          <p:cNvPr id="27" name="Elbow down"/>
          <p:cNvSpPr/>
          <p:nvPr/>
        </p:nvSpPr>
        <p:spPr>
          <a:xfrm>
            <a:off x="10314432" y="3145536"/>
            <a:ext cx="0" cy="237744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28" name="Elbow across"/>
          <p:cNvSpPr/>
          <p:nvPr/>
        </p:nvSpPr>
        <p:spPr>
          <a:xfrm>
            <a:off x="6094476" y="3383280"/>
            <a:ext cx="4219956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29" name="Elbow into auditor"/>
          <p:cNvSpPr/>
          <p:nvPr/>
        </p:nvSpPr>
        <p:spPr>
          <a:xfrm>
            <a:off x="6094476" y="3383280"/>
            <a:ext cx="0" cy="237744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0" name="Watchman card"/>
          <p:cNvSpPr/>
          <p:nvPr/>
        </p:nvSpPr>
        <p:spPr>
          <a:xfrm>
            <a:off x="640080" y="3675888"/>
            <a:ext cx="3429000" cy="1481328"/>
          </a:xfrm>
          <a:prstGeom prst="roundRect">
            <a:avLst>
              <a:gd name="adj" fmla="val 6173"/>
            </a:avLst>
          </a:prstGeom>
          <a:solidFill>
            <a:schemeClr val="bg2"/>
          </a:solidFill>
          <a:ln/>
        </p:spPr>
      </p:sp>
      <p:sp>
        <p:nvSpPr>
          <p:cNvPr id="31" name="Watchman dot"/>
          <p:cNvSpPr/>
          <p:nvPr/>
        </p:nvSpPr>
        <p:spPr>
          <a:xfrm>
            <a:off x="841248" y="3858768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Watchman glyph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3968496"/>
            <a:ext cx="219456" cy="219456"/>
          </a:xfrm>
          <a:prstGeom prst="rect">
            <a:avLst/>
          </a:prstGeom>
        </p:spPr>
      </p:pic>
      <p:sp>
        <p:nvSpPr>
          <p:cNvPr id="33" name="Watchman name"/>
          <p:cNvSpPr txBox="1"/>
          <p:nvPr/>
        </p:nvSpPr>
        <p:spPr>
          <a:xfrm>
            <a:off x="841248" y="4389120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Watchman</a:t>
            </a:r>
            <a:endParaRPr lang="en-US" sz="1600" dirty="0"/>
          </a:p>
        </p:txBody>
      </p:sp>
      <p:sp>
        <p:nvSpPr>
          <p:cNvPr id="34" name="Watchman desc"/>
          <p:cNvSpPr txBox="1"/>
          <p:nvPr/>
        </p:nvSpPr>
        <p:spPr>
          <a:xfrm>
            <a:off x="841248" y="4681728"/>
            <a:ext cx="3026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Detects semantic changes across policy versions.</a:t>
            </a:r>
            <a:endParaRPr lang="en-US" sz="1350" dirty="0"/>
          </a:p>
        </p:txBody>
      </p:sp>
      <p:sp>
        <p:nvSpPr>
          <p:cNvPr id="35" name="Independent Auditor card"/>
          <p:cNvSpPr/>
          <p:nvPr/>
        </p:nvSpPr>
        <p:spPr>
          <a:xfrm>
            <a:off x="4379976" y="3675888"/>
            <a:ext cx="3429000" cy="1481328"/>
          </a:xfrm>
          <a:prstGeom prst="roundRect">
            <a:avLst>
              <a:gd name="adj" fmla="val 6173"/>
            </a:avLst>
          </a:prstGeom>
          <a:solidFill>
            <a:schemeClr val="bg2"/>
          </a:solidFill>
          <a:ln/>
        </p:spPr>
      </p:sp>
      <p:sp>
        <p:nvSpPr>
          <p:cNvPr id="36" name="Independent Auditor dot"/>
          <p:cNvSpPr/>
          <p:nvPr/>
        </p:nvSpPr>
        <p:spPr>
          <a:xfrm>
            <a:off x="4581144" y="3858768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7" name="Independent Auditor glyph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0872" y="3968496"/>
            <a:ext cx="219456" cy="219456"/>
          </a:xfrm>
          <a:prstGeom prst="rect">
            <a:avLst/>
          </a:prstGeom>
        </p:spPr>
      </p:pic>
      <p:sp>
        <p:nvSpPr>
          <p:cNvPr id="38" name="Independent Auditor name"/>
          <p:cNvSpPr txBox="1"/>
          <p:nvPr/>
        </p:nvSpPr>
        <p:spPr>
          <a:xfrm>
            <a:off x="4581144" y="4389120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Independent Auditor</a:t>
            </a:r>
            <a:endParaRPr lang="en-US" sz="1600" dirty="0"/>
          </a:p>
        </p:txBody>
      </p:sp>
      <p:sp>
        <p:nvSpPr>
          <p:cNvPr id="39" name="Independent Auditor desc"/>
          <p:cNvSpPr txBox="1"/>
          <p:nvPr/>
        </p:nvSpPr>
        <p:spPr>
          <a:xfrm>
            <a:off x="4581144" y="4681728"/>
            <a:ext cx="3026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Blindly checks evidence, agreement, disagreement and bias.</a:t>
            </a:r>
            <a:endParaRPr lang="en-US" sz="1350" dirty="0"/>
          </a:p>
        </p:txBody>
      </p:sp>
      <p:sp>
        <p:nvSpPr>
          <p:cNvPr id="40" name="Arrow to guardian"/>
          <p:cNvSpPr/>
          <p:nvPr/>
        </p:nvSpPr>
        <p:spPr>
          <a:xfrm>
            <a:off x="7872984" y="4416552"/>
            <a:ext cx="18288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1" name="Guardian Gateway card"/>
          <p:cNvSpPr/>
          <p:nvPr/>
        </p:nvSpPr>
        <p:spPr>
          <a:xfrm>
            <a:off x="8119872" y="3675888"/>
            <a:ext cx="3429000" cy="1481328"/>
          </a:xfrm>
          <a:prstGeom prst="roundRect">
            <a:avLst>
              <a:gd name="adj" fmla="val 6173"/>
            </a:avLst>
          </a:prstGeom>
          <a:solidFill>
            <a:schemeClr val="tx2"/>
          </a:solidFill>
          <a:ln/>
        </p:spPr>
      </p:sp>
      <p:sp>
        <p:nvSpPr>
          <p:cNvPr id="42" name="Guardian Gateway dot"/>
          <p:cNvSpPr/>
          <p:nvPr/>
        </p:nvSpPr>
        <p:spPr>
          <a:xfrm>
            <a:off x="8321040" y="3858768"/>
            <a:ext cx="438912" cy="438912"/>
          </a:xfrm>
          <a:prstGeom prst="ellipse">
            <a:avLst/>
          </a:prstGeom>
          <a:solidFill>
            <a:srgbClr val="1E3A4F"/>
          </a:solidFill>
          <a:ln/>
        </p:spPr>
      </p:sp>
      <p:pic>
        <p:nvPicPr>
          <p:cNvPr id="43" name="Guardian Gateway glyph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0768" y="3968496"/>
            <a:ext cx="219456" cy="219456"/>
          </a:xfrm>
          <a:prstGeom prst="rect">
            <a:avLst/>
          </a:prstGeom>
        </p:spPr>
      </p:pic>
      <p:sp>
        <p:nvSpPr>
          <p:cNvPr id="44" name="Guardian Gateway name"/>
          <p:cNvSpPr txBox="1"/>
          <p:nvPr/>
        </p:nvSpPr>
        <p:spPr>
          <a:xfrm>
            <a:off x="8321040" y="4389120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Guardian Gateway</a:t>
            </a:r>
            <a:endParaRPr lang="en-US" sz="1600" dirty="0"/>
          </a:p>
        </p:txBody>
      </p:sp>
      <p:sp>
        <p:nvSpPr>
          <p:cNvPr id="45" name="Guardian Gateway desc"/>
          <p:cNvSpPr txBox="1"/>
          <p:nvPr/>
        </p:nvSpPr>
        <p:spPr>
          <a:xfrm>
            <a:off x="8321040" y="4681728"/>
            <a:ext cx="3026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6C6D3"/>
                </a:solidFill>
              </a:rPr>
              <a:t>Enforces deterministic rules and scoped capabilities.</a:t>
            </a:r>
            <a:endParaRPr lang="en-US" sz="1350" dirty="0"/>
          </a:p>
        </p:txBody>
      </p:sp>
      <p:sp>
        <p:nvSpPr>
          <p:cNvPr id="46" name="Watchman loop"/>
          <p:cNvSpPr/>
          <p:nvPr/>
        </p:nvSpPr>
        <p:spPr>
          <a:xfrm>
            <a:off x="1874520" y="3145536"/>
            <a:ext cx="0" cy="475488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  <a:headEnd type="triangle"/>
          </a:ln>
        </p:spPr>
      </p:sp>
      <p:sp>
        <p:nvSpPr>
          <p:cNvPr id="47" name="Conflict panel"/>
          <p:cNvSpPr/>
          <p:nvPr/>
        </p:nvSpPr>
        <p:spPr>
          <a:xfrm>
            <a:off x="640080" y="5468112"/>
            <a:ext cx="10908792" cy="54864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/>
        </p:spPr>
      </p:sp>
      <p:pic>
        <p:nvPicPr>
          <p:cNvPr id="48" name="Conflict glyph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5623560"/>
            <a:ext cx="237744" cy="237744"/>
          </a:xfrm>
          <a:prstGeom prst="rect">
            <a:avLst/>
          </a:prstGeom>
        </p:spPr>
      </p:pic>
      <p:sp>
        <p:nvSpPr>
          <p:cNvPr id="49" name="Conflict text"/>
          <p:cNvSpPr txBox="1"/>
          <p:nvPr/>
        </p:nvSpPr>
        <p:spPr>
          <a:xfrm>
            <a:off x="1234440" y="5468112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Conflict rule: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contradictory high-impact findings or missing evidence → REVIEW/BLOCK, never silent ALLOW.</a:t>
            </a:r>
            <a:endParaRPr lang="en-US" sz="1400" dirty="0"/>
          </a:p>
        </p:txBody>
      </p:sp>
      <p:sp>
        <p:nvSpPr>
          <p:cNvPr id="50" name="Footer"/>
          <p:cNvSpPr txBox="1"/>
          <p:nvPr/>
        </p:nvSpPr>
        <p:spPr>
          <a:xfrm>
            <a:off x="9720072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KAVACH  •  5/7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4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4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4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4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4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4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4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4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4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4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4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4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4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4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4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4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4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45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45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45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45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45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45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45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45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45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45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45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45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45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45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45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45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45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45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45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3" grpId="0" animBg="1"/>
      <p:bldP spid="14" grpId="0" animBg="1"/>
      <p:bldP spid="19" grpId="0" animBg="1"/>
      <p:bldP spid="20" grpId="0" animBg="1"/>
      <p:bldP spid="25" grpId="0" animBg="1"/>
      <p:bldP spid="26" grpId="0" animBg="1"/>
      <p:bldP spid="33" grpId="0" animBg="1"/>
      <p:bldP spid="34" grpId="0" animBg="1"/>
      <p:bldP spid="38" grpId="0" animBg="1"/>
      <p:bldP spid="39" grpId="0" animBg="1"/>
      <p:bldP spid="44" grpId="0" animBg="1"/>
      <p:bldP spid="45" grpId="0" animBg="1"/>
      <p:bldP spid="4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AFTER CONSENT: KEEP WATCHING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9494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Monitoring, Data Tracking &amp; Emergency Stop</a:t>
            </a:r>
            <a:endParaRPr lang="en-US" sz="3400" dirty="0"/>
          </a:p>
        </p:txBody>
      </p:sp>
      <p:sp>
        <p:nvSpPr>
          <p:cNvPr id="4" name="Semantic Policy Search dot"/>
          <p:cNvSpPr/>
          <p:nvPr/>
        </p:nvSpPr>
        <p:spPr>
          <a:xfrm>
            <a:off x="640080" y="1645920"/>
            <a:ext cx="530352" cy="530352"/>
          </a:xfrm>
          <a:prstGeom prst="ellipse">
            <a:avLst/>
          </a:prstGeom>
          <a:solidFill>
            <a:srgbClr val="E6F2F1"/>
          </a:solidFill>
          <a:ln/>
        </p:spPr>
      </p:sp>
      <p:pic>
        <p:nvPicPr>
          <p:cNvPr id="5" name="Semantic Policy Search 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" y="1778508"/>
            <a:ext cx="265176" cy="265176"/>
          </a:xfrm>
          <a:prstGeom prst="rect">
            <a:avLst/>
          </a:prstGeom>
        </p:spPr>
      </p:pic>
      <p:sp>
        <p:nvSpPr>
          <p:cNvPr id="6" name="Semantic Policy Search title"/>
          <p:cNvSpPr txBox="1"/>
          <p:nvPr/>
        </p:nvSpPr>
        <p:spPr>
          <a:xfrm>
            <a:off x="640080" y="2331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Semantic Policy Search</a:t>
            </a:r>
            <a:endParaRPr lang="en-US" sz="1800" dirty="0"/>
          </a:p>
        </p:txBody>
      </p:sp>
      <p:sp>
        <p:nvSpPr>
          <p:cNvPr id="7" name="Semantic Policy Search list"/>
          <p:cNvSpPr txBox="1"/>
          <p:nvPr/>
        </p:nvSpPr>
        <p:spPr>
          <a:xfrm>
            <a:off x="640080" y="2761488"/>
            <a:ext cx="3246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–"/>
            </a:pPr>
            <a:r>
              <a:rPr lang="en-US" sz="1400" dirty="0">
                <a:solidFill>
                  <a:schemeClr val="accent4"/>
                </a:solidFill>
              </a:rPr>
              <a:t>Compare new and previous versions</a:t>
            </a:r>
            <a:endParaRPr lang="en-US" sz="1400" dirty="0"/>
          </a:p>
          <a:p>
            <a:pPr marL="228600" indent="-228600">
              <a:spcAft>
                <a:spcPts val="500"/>
              </a:spcAft>
              <a:buSzPct val="100000"/>
              <a:buChar char="–"/>
            </a:pPr>
            <a:r>
              <a:rPr lang="en-US" sz="1400" dirty="0">
                <a:solidFill>
                  <a:schemeClr val="accent4"/>
                </a:solidFill>
              </a:rPr>
              <a:t>Detect changed wording with the same meaning</a:t>
            </a:r>
            <a:endParaRPr lang="en-US" sz="1400" dirty="0"/>
          </a:p>
          <a:p>
            <a:pPr marL="228600" indent="-228600">
              <a:spcAft>
                <a:spcPts val="500"/>
              </a:spcAft>
              <a:buSzPct val="100000"/>
              <a:buChar char="–"/>
            </a:pPr>
            <a:r>
              <a:rPr lang="en-US" sz="1400" dirty="0">
                <a:solidFill>
                  <a:schemeClr val="accent4"/>
                </a:solidFill>
              </a:rPr>
              <a:t>Flag new recipients, longer retention or AI training</a:t>
            </a:r>
            <a:endParaRPr lang="en-US" sz="1400" dirty="0"/>
          </a:p>
          <a:p>
            <a:pPr marL="228600" indent="-228600">
              <a:spcAft>
                <a:spcPts val="500"/>
              </a:spcAft>
              <a:buSzPct val="100000"/>
              <a:buChar char="–"/>
            </a:pPr>
            <a:r>
              <a:rPr lang="en-US" sz="1400" dirty="0">
                <a:solidFill>
                  <a:schemeClr val="accent4"/>
                </a:solidFill>
              </a:rPr>
              <a:t>Fetch failure = UNKNOWN, not “no change”</a:t>
            </a:r>
            <a:endParaRPr lang="en-US" sz="1400" dirty="0"/>
          </a:p>
        </p:txBody>
      </p:sp>
      <p:sp>
        <p:nvSpPr>
          <p:cNvPr id="8" name="Divider 1"/>
          <p:cNvSpPr/>
          <p:nvPr/>
        </p:nvSpPr>
        <p:spPr>
          <a:xfrm>
            <a:off x="4206240" y="1691640"/>
            <a:ext cx="0" cy="27432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Data-Flow Tracking dot"/>
          <p:cNvSpPr/>
          <p:nvPr/>
        </p:nvSpPr>
        <p:spPr>
          <a:xfrm>
            <a:off x="4389120" y="1645920"/>
            <a:ext cx="530352" cy="530352"/>
          </a:xfrm>
          <a:prstGeom prst="ellipse">
            <a:avLst/>
          </a:prstGeom>
          <a:solidFill>
            <a:srgbClr val="E6F2F1"/>
          </a:solidFill>
          <a:ln/>
        </p:spPr>
      </p:sp>
      <p:pic>
        <p:nvPicPr>
          <p:cNvPr id="10" name="Data-Flow Tracking 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708" y="1778508"/>
            <a:ext cx="265176" cy="265176"/>
          </a:xfrm>
          <a:prstGeom prst="rect">
            <a:avLst/>
          </a:prstGeom>
        </p:spPr>
      </p:pic>
      <p:sp>
        <p:nvSpPr>
          <p:cNvPr id="11" name="Data-Flow Tracking title"/>
          <p:cNvSpPr txBox="1"/>
          <p:nvPr/>
        </p:nvSpPr>
        <p:spPr>
          <a:xfrm>
            <a:off x="4389120" y="2331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Data-Flow Tracking</a:t>
            </a:r>
            <a:endParaRPr lang="en-US" sz="1800" dirty="0"/>
          </a:p>
        </p:txBody>
      </p:sp>
      <p:sp>
        <p:nvSpPr>
          <p:cNvPr id="12" name="Data-Flow Tracking list"/>
          <p:cNvSpPr txBox="1"/>
          <p:nvPr/>
        </p:nvSpPr>
        <p:spPr>
          <a:xfrm>
            <a:off x="4389120" y="2761488"/>
            <a:ext cx="3246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–"/>
            </a:pPr>
            <a:r>
              <a:rPr lang="en-US" sz="1400" dirty="0">
                <a:solidFill>
                  <a:schemeClr val="accent4"/>
                </a:solidFill>
              </a:rPr>
              <a:t>Log source, purpose, destination and decision</a:t>
            </a:r>
            <a:endParaRPr lang="en-US" sz="1400" dirty="0"/>
          </a:p>
          <a:p>
            <a:pPr marL="228600" indent="-228600">
              <a:spcAft>
                <a:spcPts val="500"/>
              </a:spcAft>
              <a:buSzPct val="100000"/>
              <a:buChar char="–"/>
            </a:pPr>
            <a:r>
              <a:rPr lang="en-US" sz="1400" dirty="0">
                <a:solidFill>
                  <a:schemeClr val="accent4"/>
                </a:solidFill>
              </a:rPr>
              <a:t>Visualize lineage with graphs</a:t>
            </a:r>
            <a:endParaRPr lang="en-US" sz="1400" dirty="0"/>
          </a:p>
          <a:p>
            <a:pPr marL="228600" indent="-228600">
              <a:spcAft>
                <a:spcPts val="500"/>
              </a:spcAft>
              <a:buSzPct val="100000"/>
              <a:buChar char="–"/>
            </a:pPr>
            <a:r>
              <a:rPr lang="en-US" sz="1400" dirty="0">
                <a:solidFill>
                  <a:schemeClr val="accent4"/>
                </a:solidFill>
              </a:rPr>
              <a:t>Flag unexpected supported transfers</a:t>
            </a:r>
            <a:endParaRPr lang="en-US" sz="1400" dirty="0"/>
          </a:p>
          <a:p>
            <a:pPr marL="228600" indent="-228600">
              <a:spcAft>
                <a:spcPts val="500"/>
              </a:spcAft>
              <a:buSzPct val="100000"/>
              <a:buChar char="–"/>
            </a:pPr>
            <a:r>
              <a:rPr lang="en-US" sz="1400" dirty="0">
                <a:solidFill>
                  <a:schemeClr val="accent4"/>
                </a:solidFill>
              </a:rPr>
              <a:t>Identify detectable tracking / ad-sharing patterns</a:t>
            </a:r>
            <a:endParaRPr lang="en-US" sz="1400" dirty="0"/>
          </a:p>
        </p:txBody>
      </p:sp>
      <p:sp>
        <p:nvSpPr>
          <p:cNvPr id="13" name="Divider 2"/>
          <p:cNvSpPr/>
          <p:nvPr/>
        </p:nvSpPr>
        <p:spPr>
          <a:xfrm>
            <a:off x="7955280" y="1691640"/>
            <a:ext cx="0" cy="27432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Emergency Response dot"/>
          <p:cNvSpPr/>
          <p:nvPr/>
        </p:nvSpPr>
        <p:spPr>
          <a:xfrm>
            <a:off x="8138160" y="1645920"/>
            <a:ext cx="530352" cy="530352"/>
          </a:xfrm>
          <a:prstGeom prst="ellipse">
            <a:avLst/>
          </a:prstGeom>
          <a:solidFill>
            <a:srgbClr val="E6F2F1"/>
          </a:solidFill>
          <a:ln/>
        </p:spPr>
      </p:sp>
      <p:pic>
        <p:nvPicPr>
          <p:cNvPr id="15" name="Emergency Response glyp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0748" y="1778508"/>
            <a:ext cx="265176" cy="265176"/>
          </a:xfrm>
          <a:prstGeom prst="rect">
            <a:avLst/>
          </a:prstGeom>
        </p:spPr>
      </p:pic>
      <p:sp>
        <p:nvSpPr>
          <p:cNvPr id="16" name="Emergency Response title"/>
          <p:cNvSpPr txBox="1"/>
          <p:nvPr/>
        </p:nvSpPr>
        <p:spPr>
          <a:xfrm>
            <a:off x="8138160" y="2331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Emergency Response</a:t>
            </a:r>
            <a:endParaRPr lang="en-US" sz="1800" dirty="0"/>
          </a:p>
        </p:txBody>
      </p:sp>
      <p:sp>
        <p:nvSpPr>
          <p:cNvPr id="17" name="Emergency Response list"/>
          <p:cNvSpPr txBox="1"/>
          <p:nvPr/>
        </p:nvSpPr>
        <p:spPr>
          <a:xfrm>
            <a:off x="8138160" y="2761488"/>
            <a:ext cx="3246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–"/>
            </a:pPr>
            <a:r>
              <a:rPr lang="en-US" sz="1400" dirty="0">
                <a:solidFill>
                  <a:schemeClr val="accent4"/>
                </a:solidFill>
              </a:rPr>
              <a:t>Freeze protected operations</a:t>
            </a:r>
            <a:endParaRPr lang="en-US" sz="1400" dirty="0"/>
          </a:p>
          <a:p>
            <a:pPr marL="228600" indent="-228600">
              <a:spcAft>
                <a:spcPts val="500"/>
              </a:spcAft>
              <a:buSzPct val="100000"/>
              <a:buChar char="–"/>
            </a:pPr>
            <a:r>
              <a:rPr lang="en-US" sz="1400" dirty="0">
                <a:solidFill>
                  <a:schemeClr val="accent4"/>
                </a:solidFill>
              </a:rPr>
              <a:t>Revoke tokens and isolate affected workers</a:t>
            </a:r>
            <a:endParaRPr lang="en-US" sz="1400" dirty="0"/>
          </a:p>
          <a:p>
            <a:pPr marL="228600" indent="-228600">
              <a:spcAft>
                <a:spcPts val="500"/>
              </a:spcAft>
              <a:buSzPct val="100000"/>
              <a:buChar char="–"/>
            </a:pPr>
            <a:r>
              <a:rPr lang="en-US" sz="1400" dirty="0">
                <a:solidFill>
                  <a:schemeClr val="accent4"/>
                </a:solidFill>
              </a:rPr>
              <a:t>Preserve forensic evidence</a:t>
            </a:r>
            <a:endParaRPr lang="en-US" sz="1400" dirty="0"/>
          </a:p>
          <a:p>
            <a:pPr marL="228600" indent="-228600">
              <a:spcAft>
                <a:spcPts val="500"/>
              </a:spcAft>
              <a:buSzPct val="100000"/>
              <a:buChar char="–"/>
            </a:pPr>
            <a:r>
              <a:rPr lang="en-US" sz="1400" dirty="0">
                <a:solidFill>
                  <a:schemeClr val="accent4"/>
                </a:solidFill>
              </a:rPr>
              <a:t>Restore from verified backups</a:t>
            </a:r>
            <a:endParaRPr lang="en-US" sz="1400" dirty="0"/>
          </a:p>
        </p:txBody>
      </p:sp>
      <p:sp>
        <p:nvSpPr>
          <p:cNvPr id="18" name="Flow label"/>
          <p:cNvSpPr txBox="1"/>
          <p:nvPr/>
        </p:nvSpPr>
        <p:spPr>
          <a:xfrm>
            <a:off x="64008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Example incident flow</a:t>
            </a:r>
            <a:endParaRPr lang="en-US" sz="1200" dirty="0"/>
          </a:p>
        </p:txBody>
      </p:sp>
      <p:sp>
        <p:nvSpPr>
          <p:cNvPr id="19" name="Stage DETECT"/>
          <p:cNvSpPr/>
          <p:nvPr/>
        </p:nvSpPr>
        <p:spPr>
          <a:xfrm>
            <a:off x="640080" y="4983480"/>
            <a:ext cx="2816352" cy="475488"/>
          </a:xfrm>
          <a:prstGeom prst="homePlate">
            <a:avLst/>
          </a:prstGeom>
          <a:solidFill>
            <a:srgbClr val="0F766E"/>
          </a:solidFill>
          <a:ln/>
        </p:spPr>
      </p:sp>
      <p:sp>
        <p:nvSpPr>
          <p:cNvPr id="20" name="Stage DETECT label"/>
          <p:cNvSpPr txBox="1"/>
          <p:nvPr/>
        </p:nvSpPr>
        <p:spPr>
          <a:xfrm>
            <a:off x="868680" y="498348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chemeClr val="bg1"/>
                </a:solidFill>
              </a:rPr>
              <a:t>DETECT</a:t>
            </a:r>
            <a:endParaRPr lang="en-US" sz="1300" dirty="0"/>
          </a:p>
        </p:txBody>
      </p:sp>
      <p:sp>
        <p:nvSpPr>
          <p:cNvPr id="21" name="Stage FREEZE"/>
          <p:cNvSpPr/>
          <p:nvPr/>
        </p:nvSpPr>
        <p:spPr>
          <a:xfrm>
            <a:off x="3337560" y="4983480"/>
            <a:ext cx="2816352" cy="475488"/>
          </a:xfrm>
          <a:prstGeom prst="chevron">
            <a:avLst/>
          </a:prstGeom>
          <a:solidFill>
            <a:srgbClr val="0E5E5A"/>
          </a:solidFill>
          <a:ln/>
        </p:spPr>
      </p:sp>
      <p:sp>
        <p:nvSpPr>
          <p:cNvPr id="22" name="Stage FREEZE label"/>
          <p:cNvSpPr txBox="1"/>
          <p:nvPr/>
        </p:nvSpPr>
        <p:spPr>
          <a:xfrm>
            <a:off x="3749040" y="498348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chemeClr val="bg1"/>
                </a:solidFill>
              </a:rPr>
              <a:t>FREEZE</a:t>
            </a:r>
            <a:endParaRPr lang="en-US" sz="1300" dirty="0"/>
          </a:p>
        </p:txBody>
      </p:sp>
      <p:sp>
        <p:nvSpPr>
          <p:cNvPr id="23" name="Stage INVESTIGATE"/>
          <p:cNvSpPr/>
          <p:nvPr/>
        </p:nvSpPr>
        <p:spPr>
          <a:xfrm>
            <a:off x="6035040" y="4983480"/>
            <a:ext cx="2816352" cy="475488"/>
          </a:xfrm>
          <a:prstGeom prst="chevron">
            <a:avLst/>
          </a:prstGeom>
          <a:solidFill>
            <a:srgbClr val="124A57"/>
          </a:solidFill>
          <a:ln/>
        </p:spPr>
      </p:sp>
      <p:sp>
        <p:nvSpPr>
          <p:cNvPr id="24" name="Stage INVESTIGATE label"/>
          <p:cNvSpPr txBox="1"/>
          <p:nvPr/>
        </p:nvSpPr>
        <p:spPr>
          <a:xfrm>
            <a:off x="6446520" y="498348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chemeClr val="bg1"/>
                </a:solidFill>
              </a:rPr>
              <a:t>INVESTIGATE</a:t>
            </a:r>
            <a:endParaRPr lang="en-US" sz="1300" dirty="0"/>
          </a:p>
        </p:txBody>
      </p:sp>
      <p:sp>
        <p:nvSpPr>
          <p:cNvPr id="25" name="Stage RECOVER"/>
          <p:cNvSpPr/>
          <p:nvPr/>
        </p:nvSpPr>
        <p:spPr>
          <a:xfrm>
            <a:off x="8732520" y="4983480"/>
            <a:ext cx="2816352" cy="475488"/>
          </a:xfrm>
          <a:prstGeom prst="chevron">
            <a:avLst/>
          </a:prstGeom>
          <a:solidFill>
            <a:srgbClr val="102536"/>
          </a:solidFill>
          <a:ln/>
        </p:spPr>
      </p:sp>
      <p:sp>
        <p:nvSpPr>
          <p:cNvPr id="26" name="Stage RECOVER label"/>
          <p:cNvSpPr txBox="1"/>
          <p:nvPr/>
        </p:nvSpPr>
        <p:spPr>
          <a:xfrm>
            <a:off x="9144000" y="498348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chemeClr val="bg1"/>
                </a:solidFill>
              </a:rPr>
              <a:t>RECOVER</a:t>
            </a:r>
            <a:endParaRPr lang="en-US" sz="1300" dirty="0"/>
          </a:p>
        </p:txBody>
      </p:sp>
      <p:sp>
        <p:nvSpPr>
          <p:cNvPr id="27" name="Safety panel"/>
          <p:cNvSpPr/>
          <p:nvPr/>
        </p:nvSpPr>
        <p:spPr>
          <a:xfrm>
            <a:off x="640080" y="5715000"/>
            <a:ext cx="10908792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pic>
        <p:nvPicPr>
          <p:cNvPr id="28" name="Safety glyph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852160"/>
            <a:ext cx="237744" cy="237744"/>
          </a:xfrm>
          <a:prstGeom prst="rect">
            <a:avLst/>
          </a:prstGeom>
        </p:spPr>
      </p:pic>
      <p:sp>
        <p:nvSpPr>
          <p:cNvPr id="29" name="Safety text"/>
          <p:cNvSpPr txBox="1"/>
          <p:nvPr/>
        </p:nvSpPr>
        <p:spPr>
          <a:xfrm>
            <a:off x="1234440" y="571500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Safety note: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stopping future transfers cannot guarantee retrieval or deletion of data already copied outside the system.</a:t>
            </a:r>
            <a:endParaRPr lang="en-US" sz="1400" dirty="0"/>
          </a:p>
        </p:txBody>
      </p:sp>
      <p:sp>
        <p:nvSpPr>
          <p:cNvPr id="30" name="Footer"/>
          <p:cNvSpPr txBox="1"/>
          <p:nvPr/>
        </p:nvSpPr>
        <p:spPr>
          <a:xfrm>
            <a:off x="9720072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KAVACH  •  6/7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4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4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4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4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4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4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4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4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4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4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4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4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4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4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4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4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4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4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4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4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4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1" grpId="0" animBg="1"/>
      <p:bldP spid="12" grpId="0" animBg="1"/>
      <p:bldP spid="16" grpId="0" animBg="1"/>
      <p:bldP spid="17" grpId="0" animBg="1"/>
      <p:bldP spid="18" grpId="0" animBg="1"/>
      <p:bldP spid="20" grpId="0" animBg="1"/>
      <p:bldP spid="22" grpId="0" animBg="1"/>
      <p:bldP spid="24" grpId="0" animBg="1"/>
      <p:bldP spid="26" grpId="0" animBg="1"/>
      <p:bldP spid="2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 PRACTICAL PATH TO A WORKING PROTOTYPE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9494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Architecture, Testing &amp; Expected Impact</a:t>
            </a:r>
            <a:endParaRPr lang="en-US" sz="3400" dirty="0"/>
          </a:p>
        </p:txBody>
      </p:sp>
      <p:sp>
        <p:nvSpPr>
          <p:cNvPr id="4" name="Tech title"/>
          <p:cNvSpPr txBox="1"/>
          <p:nvPr/>
        </p:nvSpPr>
        <p:spPr>
          <a:xfrm>
            <a:off x="640080" y="1600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Proposed technology</a:t>
            </a:r>
            <a:endParaRPr lang="en-US" sz="1700" dirty="0"/>
          </a:p>
        </p:txBody>
      </p:sp>
      <p:sp>
        <p:nvSpPr>
          <p:cNvPr id="5" name="Stack Frontend"/>
          <p:cNvSpPr/>
          <p:nvPr/>
        </p:nvSpPr>
        <p:spPr>
          <a:xfrm>
            <a:off x="640080" y="2029968"/>
            <a:ext cx="3383280" cy="36576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6" name="Stack Frontend text"/>
          <p:cNvSpPr txBox="1"/>
          <p:nvPr/>
        </p:nvSpPr>
        <p:spPr>
          <a:xfrm>
            <a:off x="804672" y="20299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Frontend: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React + Tailwind</a:t>
            </a:r>
            <a:endParaRPr lang="en-US" sz="1300" dirty="0"/>
          </a:p>
        </p:txBody>
      </p:sp>
      <p:sp>
        <p:nvSpPr>
          <p:cNvPr id="7" name="Stack Backend"/>
          <p:cNvSpPr/>
          <p:nvPr/>
        </p:nvSpPr>
        <p:spPr>
          <a:xfrm>
            <a:off x="640080" y="2441448"/>
            <a:ext cx="3383280" cy="365760"/>
          </a:xfrm>
          <a:prstGeom prst="roundRect">
            <a:avLst>
              <a:gd name="adj" fmla="val 12500"/>
            </a:avLst>
          </a:prstGeom>
          <a:solidFill>
            <a:srgbClr val="EEF3F6"/>
          </a:solidFill>
          <a:ln/>
        </p:spPr>
      </p:sp>
      <p:sp>
        <p:nvSpPr>
          <p:cNvPr id="8" name="Stack Backend text"/>
          <p:cNvSpPr txBox="1"/>
          <p:nvPr/>
        </p:nvSpPr>
        <p:spPr>
          <a:xfrm>
            <a:off x="804672" y="24414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Backend: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Python FastAPI</a:t>
            </a:r>
            <a:endParaRPr lang="en-US" sz="1300" dirty="0"/>
          </a:p>
        </p:txBody>
      </p:sp>
      <p:sp>
        <p:nvSpPr>
          <p:cNvPr id="9" name="Stack Agents"/>
          <p:cNvSpPr/>
          <p:nvPr/>
        </p:nvSpPr>
        <p:spPr>
          <a:xfrm>
            <a:off x="640080" y="2852928"/>
            <a:ext cx="3383280" cy="530352"/>
          </a:xfrm>
          <a:prstGeom prst="roundRect">
            <a:avLst>
              <a:gd name="adj" fmla="val 8621"/>
            </a:avLst>
          </a:prstGeom>
          <a:solidFill>
            <a:schemeClr val="bg2"/>
          </a:solidFill>
          <a:ln/>
        </p:spPr>
      </p:sp>
      <p:sp>
        <p:nvSpPr>
          <p:cNvPr id="10" name="Stack Agents text"/>
          <p:cNvSpPr txBox="1"/>
          <p:nvPr/>
        </p:nvSpPr>
        <p:spPr>
          <a:xfrm>
            <a:off x="804672" y="2852928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Agents: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LangGraph / deterministic orchestration</a:t>
            </a:r>
            <a:endParaRPr lang="en-US" sz="1300" dirty="0"/>
          </a:p>
        </p:txBody>
      </p:sp>
      <p:sp>
        <p:nvSpPr>
          <p:cNvPr id="11" name="Stack Storage"/>
          <p:cNvSpPr/>
          <p:nvPr/>
        </p:nvSpPr>
        <p:spPr>
          <a:xfrm>
            <a:off x="640080" y="3429000"/>
            <a:ext cx="3383280" cy="365760"/>
          </a:xfrm>
          <a:prstGeom prst="roundRect">
            <a:avLst>
              <a:gd name="adj" fmla="val 12500"/>
            </a:avLst>
          </a:prstGeom>
          <a:solidFill>
            <a:srgbClr val="EEF3F6"/>
          </a:solidFill>
          <a:ln/>
        </p:spPr>
      </p:sp>
      <p:sp>
        <p:nvSpPr>
          <p:cNvPr id="12" name="Stack Storage text"/>
          <p:cNvSpPr txBox="1"/>
          <p:nvPr/>
        </p:nvSpPr>
        <p:spPr>
          <a:xfrm>
            <a:off x="804672" y="3429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Storage: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PostgreSQL</a:t>
            </a:r>
            <a:endParaRPr lang="en-US" sz="1300" dirty="0"/>
          </a:p>
        </p:txBody>
      </p:sp>
      <p:sp>
        <p:nvSpPr>
          <p:cNvPr id="13" name="Stack Deployment"/>
          <p:cNvSpPr/>
          <p:nvPr/>
        </p:nvSpPr>
        <p:spPr>
          <a:xfrm>
            <a:off x="640080" y="3840480"/>
            <a:ext cx="3383280" cy="530352"/>
          </a:xfrm>
          <a:prstGeom prst="roundRect">
            <a:avLst>
              <a:gd name="adj" fmla="val 8621"/>
            </a:avLst>
          </a:prstGeom>
          <a:solidFill>
            <a:schemeClr val="bg2"/>
          </a:solidFill>
          <a:ln/>
        </p:spPr>
      </p:sp>
      <p:sp>
        <p:nvSpPr>
          <p:cNvPr id="14" name="Stack Deployment text"/>
          <p:cNvSpPr txBox="1"/>
          <p:nvPr/>
        </p:nvSpPr>
        <p:spPr>
          <a:xfrm>
            <a:off x="804672" y="384048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Deployment: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Render + scheduled Watchman</a:t>
            </a:r>
            <a:endParaRPr lang="en-US" sz="1300" dirty="0"/>
          </a:p>
        </p:txBody>
      </p:sp>
      <p:sp>
        <p:nvSpPr>
          <p:cNvPr id="15" name="Divider 1"/>
          <p:cNvSpPr/>
          <p:nvPr/>
        </p:nvSpPr>
        <p:spPr>
          <a:xfrm>
            <a:off x="4206240" y="1645920"/>
            <a:ext cx="0" cy="269748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Divider 2"/>
          <p:cNvSpPr/>
          <p:nvPr/>
        </p:nvSpPr>
        <p:spPr>
          <a:xfrm>
            <a:off x="7955280" y="1645920"/>
            <a:ext cx="0" cy="269748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Validation plan title"/>
          <p:cNvSpPr txBox="1"/>
          <p:nvPr/>
        </p:nvSpPr>
        <p:spPr>
          <a:xfrm>
            <a:off x="4389120" y="1600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Validation plan</a:t>
            </a:r>
            <a:endParaRPr lang="en-US" sz="1700" dirty="0"/>
          </a:p>
        </p:txBody>
      </p:sp>
      <p:pic>
        <p:nvPicPr>
          <p:cNvPr id="18" name="Validation plan mark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2066544"/>
            <a:ext cx="182880" cy="182880"/>
          </a:xfrm>
          <a:prstGeom prst="rect">
            <a:avLst/>
          </a:prstGeom>
        </p:spPr>
      </p:pic>
      <p:sp>
        <p:nvSpPr>
          <p:cNvPr id="19" name="Validation plan item 1"/>
          <p:cNvSpPr txBox="1"/>
          <p:nvPr/>
        </p:nvSpPr>
        <p:spPr>
          <a:xfrm>
            <a:off x="4681728" y="202996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Synthetic policy and prompt-injection tests</a:t>
            </a:r>
            <a:endParaRPr lang="en-US" sz="1350" dirty="0"/>
          </a:p>
        </p:txBody>
      </p:sp>
      <p:pic>
        <p:nvPicPr>
          <p:cNvPr id="20" name="Validation plan mark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633472"/>
            <a:ext cx="182880" cy="182880"/>
          </a:xfrm>
          <a:prstGeom prst="rect">
            <a:avLst/>
          </a:prstGeom>
        </p:spPr>
      </p:pic>
      <p:sp>
        <p:nvSpPr>
          <p:cNvPr id="21" name="Validation plan item 2"/>
          <p:cNvSpPr txBox="1"/>
          <p:nvPr/>
        </p:nvSpPr>
        <p:spPr>
          <a:xfrm>
            <a:off x="4681728" y="259689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Conflicting agent findings</a:t>
            </a:r>
            <a:endParaRPr lang="en-US" sz="1350" dirty="0"/>
          </a:p>
        </p:txBody>
      </p:sp>
      <p:pic>
        <p:nvPicPr>
          <p:cNvPr id="22" name="Validation plan mark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980944"/>
            <a:ext cx="182880" cy="182880"/>
          </a:xfrm>
          <a:prstGeom prst="rect">
            <a:avLst/>
          </a:prstGeom>
        </p:spPr>
      </p:pic>
      <p:sp>
        <p:nvSpPr>
          <p:cNvPr id="23" name="Validation plan item 3"/>
          <p:cNvSpPr txBox="1"/>
          <p:nvPr/>
        </p:nvSpPr>
        <p:spPr>
          <a:xfrm>
            <a:off x="4681728" y="294436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Expired / replayed / wrong-destination tokens</a:t>
            </a:r>
            <a:endParaRPr lang="en-US" sz="1350" dirty="0"/>
          </a:p>
        </p:txBody>
      </p:sp>
      <p:pic>
        <p:nvPicPr>
          <p:cNvPr id="24" name="Validation plan mark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3547872"/>
            <a:ext cx="182880" cy="182880"/>
          </a:xfrm>
          <a:prstGeom prst="rect">
            <a:avLst/>
          </a:prstGeom>
        </p:spPr>
      </p:pic>
      <p:sp>
        <p:nvSpPr>
          <p:cNvPr id="25" name="Validation plan item 4"/>
          <p:cNvSpPr txBox="1"/>
          <p:nvPr/>
        </p:nvSpPr>
        <p:spPr>
          <a:xfrm>
            <a:off x="4681728" y="351129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Cross-user access and gateway-bypass tests</a:t>
            </a:r>
            <a:endParaRPr lang="en-US" sz="1350" dirty="0"/>
          </a:p>
        </p:txBody>
      </p:sp>
      <p:pic>
        <p:nvPicPr>
          <p:cNvPr id="26" name="Validation plan mark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4114800"/>
            <a:ext cx="182880" cy="182880"/>
          </a:xfrm>
          <a:prstGeom prst="rect">
            <a:avLst/>
          </a:prstGeom>
        </p:spPr>
      </p:pic>
      <p:sp>
        <p:nvSpPr>
          <p:cNvPr id="27" name="Validation plan item 5"/>
          <p:cNvSpPr txBox="1"/>
          <p:nvPr/>
        </p:nvSpPr>
        <p:spPr>
          <a:xfrm>
            <a:off x="4681728" y="407822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Backup recovery and audit checks</a:t>
            </a:r>
            <a:endParaRPr lang="en-US" sz="1350" dirty="0"/>
          </a:p>
        </p:txBody>
      </p:sp>
      <p:sp>
        <p:nvSpPr>
          <p:cNvPr id="28" name="Expected value title"/>
          <p:cNvSpPr txBox="1"/>
          <p:nvPr/>
        </p:nvSpPr>
        <p:spPr>
          <a:xfrm>
            <a:off x="8138160" y="1600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Expected value</a:t>
            </a:r>
            <a:endParaRPr lang="en-US" sz="1700" dirty="0"/>
          </a:p>
        </p:txBody>
      </p:sp>
      <p:pic>
        <p:nvPicPr>
          <p:cNvPr id="29" name="Expected value mark 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2066544"/>
            <a:ext cx="182880" cy="182880"/>
          </a:xfrm>
          <a:prstGeom prst="rect">
            <a:avLst/>
          </a:prstGeom>
        </p:spPr>
      </p:pic>
      <p:sp>
        <p:nvSpPr>
          <p:cNvPr id="30" name="Expected value item 1"/>
          <p:cNvSpPr txBox="1"/>
          <p:nvPr/>
        </p:nvSpPr>
        <p:spPr>
          <a:xfrm>
            <a:off x="8430768" y="20299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More understandable consent</a:t>
            </a:r>
            <a:endParaRPr lang="en-US" sz="1350" dirty="0"/>
          </a:p>
        </p:txBody>
      </p:sp>
      <p:pic>
        <p:nvPicPr>
          <p:cNvPr id="31" name="Expected value mark 2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0" y="2414016"/>
            <a:ext cx="182880" cy="182880"/>
          </a:xfrm>
          <a:prstGeom prst="rect">
            <a:avLst/>
          </a:prstGeom>
        </p:spPr>
      </p:pic>
      <p:sp>
        <p:nvSpPr>
          <p:cNvPr id="32" name="Expected value item 2"/>
          <p:cNvSpPr txBox="1"/>
          <p:nvPr/>
        </p:nvSpPr>
        <p:spPr>
          <a:xfrm>
            <a:off x="8430768" y="23774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User rules enforced at the gateway</a:t>
            </a:r>
            <a:endParaRPr lang="en-US" sz="1350" dirty="0"/>
          </a:p>
        </p:txBody>
      </p:sp>
      <p:pic>
        <p:nvPicPr>
          <p:cNvPr id="33" name="Expected value mark 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8160" y="2761488"/>
            <a:ext cx="182880" cy="182880"/>
          </a:xfrm>
          <a:prstGeom prst="rect">
            <a:avLst/>
          </a:prstGeom>
        </p:spPr>
      </p:pic>
      <p:sp>
        <p:nvSpPr>
          <p:cNvPr id="34" name="Expected value item 3"/>
          <p:cNvSpPr txBox="1"/>
          <p:nvPr/>
        </p:nvSpPr>
        <p:spPr>
          <a:xfrm>
            <a:off x="8430768" y="272491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Early alerts on policy changes</a:t>
            </a:r>
            <a:endParaRPr lang="en-US" sz="1350" dirty="0"/>
          </a:p>
        </p:txBody>
      </p:sp>
      <p:pic>
        <p:nvPicPr>
          <p:cNvPr id="35" name="Expected value mark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38160" y="3108960"/>
            <a:ext cx="182880" cy="182880"/>
          </a:xfrm>
          <a:prstGeom prst="rect">
            <a:avLst/>
          </a:prstGeom>
        </p:spPr>
      </p:pic>
      <p:sp>
        <p:nvSpPr>
          <p:cNvPr id="36" name="Expected value item 4"/>
          <p:cNvSpPr txBox="1"/>
          <p:nvPr/>
        </p:nvSpPr>
        <p:spPr>
          <a:xfrm>
            <a:off x="8430768" y="3072384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Auditable decisions and incident response</a:t>
            </a:r>
            <a:endParaRPr lang="en-US" sz="1350" dirty="0"/>
          </a:p>
        </p:txBody>
      </p:sp>
      <p:pic>
        <p:nvPicPr>
          <p:cNvPr id="37" name="Expected value mark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38160" y="3675888"/>
            <a:ext cx="182880" cy="182880"/>
          </a:xfrm>
          <a:prstGeom prst="rect">
            <a:avLst/>
          </a:prstGeom>
        </p:spPr>
      </p:pic>
      <p:sp>
        <p:nvSpPr>
          <p:cNvPr id="38" name="Expected value item 5"/>
          <p:cNvSpPr txBox="1"/>
          <p:nvPr/>
        </p:nvSpPr>
        <p:spPr>
          <a:xfrm>
            <a:off x="8430768" y="363931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A reusable Guardian API for AI agents</a:t>
            </a:r>
            <a:endParaRPr lang="en-US" sz="1350" dirty="0"/>
          </a:p>
        </p:txBody>
      </p:sp>
      <p:sp>
        <p:nvSpPr>
          <p:cNvPr id="39" name="Priorities label"/>
          <p:cNvSpPr txBox="1"/>
          <p:nvPr/>
        </p:nvSpPr>
        <p:spPr>
          <a:xfrm>
            <a:off x="640080" y="4572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Implementation priorities</a:t>
            </a:r>
            <a:endParaRPr lang="en-US" sz="1200" dirty="0"/>
          </a:p>
        </p:txBody>
      </p:sp>
      <p:sp>
        <p:nvSpPr>
          <p:cNvPr id="40" name="Priority track"/>
          <p:cNvSpPr/>
          <p:nvPr/>
        </p:nvSpPr>
        <p:spPr>
          <a:xfrm>
            <a:off x="777240" y="4983480"/>
            <a:ext cx="10607040" cy="0"/>
          </a:xfrm>
          <a:prstGeom prst="line">
            <a:avLst/>
          </a:prstGeom>
          <a:noFill/>
          <a:ln w="15875">
            <a:solidFill>
              <a:srgbClr val="B9D7D3"/>
            </a:solidFill>
            <a:prstDash val="solid"/>
          </a:ln>
        </p:spPr>
      </p:sp>
      <p:sp>
        <p:nvSpPr>
          <p:cNvPr id="41" name="Phase P0 dot"/>
          <p:cNvSpPr/>
          <p:nvPr/>
        </p:nvSpPr>
        <p:spPr>
          <a:xfrm>
            <a:off x="694944" y="4873752"/>
            <a:ext cx="219456" cy="21945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42" name="Phase P0 text"/>
          <p:cNvSpPr txBox="1"/>
          <p:nvPr/>
        </p:nvSpPr>
        <p:spPr>
          <a:xfrm>
            <a:off x="640080" y="51572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P0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Authentication + rules + Guardian</a:t>
            </a:r>
            <a:endParaRPr lang="en-US" sz="1400" dirty="0"/>
          </a:p>
        </p:txBody>
      </p:sp>
      <p:sp>
        <p:nvSpPr>
          <p:cNvPr id="43" name="Phase P1 dot"/>
          <p:cNvSpPr/>
          <p:nvPr/>
        </p:nvSpPr>
        <p:spPr>
          <a:xfrm>
            <a:off x="4443984" y="4873752"/>
            <a:ext cx="219456" cy="219456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44" name="Phase P1 text"/>
          <p:cNvSpPr txBox="1"/>
          <p:nvPr/>
        </p:nvSpPr>
        <p:spPr>
          <a:xfrm>
            <a:off x="4389120" y="51572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P1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Audit + tracking + Watchman</a:t>
            </a:r>
            <a:endParaRPr lang="en-US" sz="1400" dirty="0"/>
          </a:p>
        </p:txBody>
      </p:sp>
      <p:sp>
        <p:nvSpPr>
          <p:cNvPr id="45" name="Phase P2 dot"/>
          <p:cNvSpPr/>
          <p:nvPr/>
        </p:nvSpPr>
        <p:spPr>
          <a:xfrm>
            <a:off x="8193024" y="4873752"/>
            <a:ext cx="219456" cy="219456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46" name="Phase P2 text"/>
          <p:cNvSpPr txBox="1"/>
          <p:nvPr/>
        </p:nvSpPr>
        <p:spPr>
          <a:xfrm>
            <a:off x="8138160" y="51572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P2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Chatbot + graphs + integrations</a:t>
            </a:r>
            <a:endParaRPr lang="en-US" sz="1400" dirty="0"/>
          </a:p>
        </p:txBody>
      </p:sp>
      <p:sp>
        <p:nvSpPr>
          <p:cNvPr id="47" name="Closing panel"/>
          <p:cNvSpPr/>
          <p:nvPr/>
        </p:nvSpPr>
        <p:spPr>
          <a:xfrm>
            <a:off x="640080" y="5650992"/>
            <a:ext cx="10908792" cy="621792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/>
        </p:spPr>
      </p:sp>
      <p:sp>
        <p:nvSpPr>
          <p:cNvPr id="48" name="Closing statement"/>
          <p:cNvSpPr txBox="1"/>
          <p:nvPr/>
        </p:nvSpPr>
        <p:spPr>
          <a:xfrm>
            <a:off x="960120" y="5650992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KAVACH — Consent should stay informed, current, and under human control.</a:t>
            </a:r>
            <a:endParaRPr lang="en-US" sz="1900" dirty="0"/>
          </a:p>
        </p:txBody>
      </p:sp>
      <p:sp>
        <p:nvSpPr>
          <p:cNvPr id="49" name="Thank you"/>
          <p:cNvSpPr txBox="1"/>
          <p:nvPr/>
        </p:nvSpPr>
        <p:spPr>
          <a:xfrm>
            <a:off x="9464040" y="565099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Thank you</a:t>
            </a:r>
            <a:endParaRPr lang="en-US" sz="1600" dirty="0"/>
          </a:p>
        </p:txBody>
      </p:sp>
      <p:sp>
        <p:nvSpPr>
          <p:cNvPr id="50" name="Footer"/>
          <p:cNvSpPr txBox="1"/>
          <p:nvPr/>
        </p:nvSpPr>
        <p:spPr>
          <a:xfrm>
            <a:off x="9720072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KAVACH  •  7/7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4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4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4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4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4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4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4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4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4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4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4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4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4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4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4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4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4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4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4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4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4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4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4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4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4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4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45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45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45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45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45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45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45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45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45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45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45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45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42" presetClass="entr" presetSubtype="0" fill="hold" grpId="0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45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" dur="45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45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45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42" presetClass="entr" presetSubtype="0" fill="hold" grpId="0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45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42" presetClass="entr" presetSubtype="0" fill="hold" grpId="0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2" dur="45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grpId="0" nodeType="withEffect">
                                  <p:stCondLst>
                                    <p:cond delay="197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6" dur="45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12" grpId="0" animBg="1"/>
      <p:bldP spid="14" grpId="0" animBg="1"/>
      <p:bldP spid="17" grpId="0" animBg="1"/>
      <p:bldP spid="19" grpId="0" animBg="1"/>
      <p:bldP spid="21" grpId="0" animBg="1"/>
      <p:bldP spid="23" grpId="0" animBg="1"/>
      <p:bldP spid="25" grpId="0" animBg="1"/>
      <p:bldP spid="27" grpId="0" animBg="1"/>
      <p:bldP spid="28" grpId="0" animBg="1"/>
      <p:bldP spid="30" grpId="0" animBg="1"/>
      <p:bldP spid="32" grpId="0" animBg="1"/>
      <p:bldP spid="34" grpId="0" animBg="1"/>
      <p:bldP spid="36" grpId="0" animBg="1"/>
      <p:bldP spid="38" grpId="0" animBg="1"/>
      <p:bldP spid="39" grpId="0" animBg="1"/>
      <p:bldP spid="42" grpId="0" animBg="1"/>
      <p:bldP spid="44" grpId="0" animBg="1"/>
      <p:bldP spid="46" grpId="0" animBg="1"/>
      <p:bldP spid="48" grpId="0" animBg="1"/>
      <p:bldP spid="49" grpId="0" animBg="1"/>
    </p:bldLst>
  </p:timing>
</p:sld>
</file>

<file path=ppt/theme/theme1.xml><?xml version="1.0" encoding="utf-8"?>
<a:theme xmlns:a="http://schemas.openxmlformats.org/drawingml/2006/main" name="Kavach Editorial">
  <a:themeElements>
    <a:clrScheme name="Kavach Editorial">
      <a:dk1>
        <a:srgbClr val="0B1B2B"/>
      </a:dk1>
      <a:lt1>
        <a:srgbClr val="FFFFFF"/>
      </a:lt1>
      <a:dk2>
        <a:srgbClr val="102536"/>
      </a:dk2>
      <a:lt2>
        <a:srgbClr val="F3F6F8"/>
      </a:lt2>
      <a:accent1>
        <a:srgbClr val="0F766E"/>
      </a:accent1>
      <a:accent2>
        <a:srgbClr val="5EEAD4"/>
      </a:accent2>
      <a:accent3>
        <a:srgbClr val="C2410C"/>
      </a:accent3>
      <a:accent4>
        <a:srgbClr val="475569"/>
      </a:accent4>
      <a:accent5>
        <a:srgbClr val="E6F2F1"/>
      </a:accent5>
      <a:accent6>
        <a:srgbClr val="FFF4EC"/>
      </a:accent6>
      <a:hlink>
        <a:srgbClr val="0F766E"/>
      </a:hlink>
      <a:folHlink>
        <a:srgbClr val="475569"/>
      </a:folHlink>
    </a:clrScheme>
    <a:fontScheme name="Kavach Editorial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KAVACH</dc:title>
  <dc:subject>PptxGenJS Presentation</dc:subject>
  <dc:creator>Team KAVACH</dc:creator>
  <cp:lastModifiedBy>Team KAVACH</cp:lastModifiedBy>
  <cp:revision>1</cp:revision>
  <dcterms:created xsi:type="dcterms:W3CDTF">2026-10-26T10:24:12Z</dcterms:created>
  <dcterms:modified xsi:type="dcterms:W3CDTF">2026-10-26T10:24:12Z</dcterms:modified>
</cp:coreProperties>
</file>